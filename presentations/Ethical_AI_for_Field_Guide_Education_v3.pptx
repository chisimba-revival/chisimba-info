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66775fbe544f6e" /><Relationship Type="http://schemas.openxmlformats.org/officeDocument/2006/relationships/extended-properties" Target="/docProps/app.xml" Id="R8fa84ce044c94b10" /><Relationship Type="http://schemas.openxmlformats.org/officeDocument/2006/relationships/officeDocument" Target="/ppt/presentation.xml" Id="Rb6205d0874b44c3e" /></Relationships>
</file>

<file path=ppt/presentation.xml><?xml version="1.0" encoding="utf-8"?>
<p:presentation xmlns:p="http://schemas.openxmlformats.org/presentationml/2006/main">
  <p:sldMasterIdLst>
    <p:sldMasterId xmlns:r="http://schemas.openxmlformats.org/officeDocument/2006/relationships" id="2147483648" r:id="R130ef56086bc45dc"/>
  </p:sldMasterIdLst>
  <p:notesMasterIdLst>
    <p:notesMasterId xmlns:r="http://schemas.openxmlformats.org/officeDocument/2006/relationships" r:id="R4e716c390236405a"/>
  </p:notesMasterIdLst>
  <p:sldIdLst>
    <p:sldId xmlns:r="http://schemas.openxmlformats.org/officeDocument/2006/relationships" id="256" r:id="Rc2c92816e424441e"/>
    <p:sldId xmlns:r="http://schemas.openxmlformats.org/officeDocument/2006/relationships" id="257" r:id="R3821b97b105d4f4d"/>
    <p:sldId xmlns:r="http://schemas.openxmlformats.org/officeDocument/2006/relationships" id="258" r:id="Red7dc9db15d04d2f"/>
    <p:sldId xmlns:r="http://schemas.openxmlformats.org/officeDocument/2006/relationships" id="259" r:id="R5c8cbaf58d1949db"/>
    <p:sldId xmlns:r="http://schemas.openxmlformats.org/officeDocument/2006/relationships" id="260" r:id="R4939fabbd3e743d7"/>
    <p:sldId xmlns:r="http://schemas.openxmlformats.org/officeDocument/2006/relationships" id="261" r:id="R18e92dc6c9284010"/>
    <p:sldId xmlns:r="http://schemas.openxmlformats.org/officeDocument/2006/relationships" id="262" r:id="R92ff673e09cc47f1"/>
    <p:sldId xmlns:r="http://schemas.openxmlformats.org/officeDocument/2006/relationships" id="263" r:id="R68b321b8ec654978"/>
    <p:sldId xmlns:r="http://schemas.openxmlformats.org/officeDocument/2006/relationships" id="264" r:id="R2e462cb4512e4c7b"/>
    <p:sldId xmlns:r="http://schemas.openxmlformats.org/officeDocument/2006/relationships" id="265" r:id="R5a74a7c412c3489c"/>
    <p:sldId xmlns:r="http://schemas.openxmlformats.org/officeDocument/2006/relationships" id="266" r:id="R4f54897df5ed4b46"/>
    <p:sldId xmlns:r="http://schemas.openxmlformats.org/officeDocument/2006/relationships" id="267" r:id="R593860256b974c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b2327cd03c490e" /><Relationship Type="http://schemas.openxmlformats.org/officeDocument/2006/relationships/slideMaster" Target="/ppt/slideMasters/slideMaster1.xml" Id="R130ef56086bc45dc" /><Relationship Type="http://schemas.openxmlformats.org/officeDocument/2006/relationships/notesMaster" Target="/ppt/notesMasters/notesMaster1.xml" Id="R4e716c390236405a" /><Relationship Type="http://schemas.openxmlformats.org/officeDocument/2006/relationships/presProps" Target="/ppt/presProps.xml" Id="R8477127788924984" /><Relationship Type="http://schemas.openxmlformats.org/officeDocument/2006/relationships/tableStyles" Target="/ppt/tableStyles.xml" Id="Ra72e076227b14862" /><Relationship Type="http://schemas.openxmlformats.org/officeDocument/2006/relationships/slide" Target="/ppt/slides/slide1.xml" Id="Rc2c92816e424441e" /><Relationship Type="http://schemas.openxmlformats.org/officeDocument/2006/relationships/slide" Target="/ppt/slides/slide2.xml" Id="R3821b97b105d4f4d" /><Relationship Type="http://schemas.openxmlformats.org/officeDocument/2006/relationships/slide" Target="/ppt/slides/slide3.xml" Id="Red7dc9db15d04d2f" /><Relationship Type="http://schemas.openxmlformats.org/officeDocument/2006/relationships/slide" Target="/ppt/slides/slide4.xml" Id="R5c8cbaf58d1949db" /><Relationship Type="http://schemas.openxmlformats.org/officeDocument/2006/relationships/slide" Target="/ppt/slides/slide5.xml" Id="R4939fabbd3e743d7" /><Relationship Type="http://schemas.openxmlformats.org/officeDocument/2006/relationships/slide" Target="/ppt/slides/slide6.xml" Id="R18e92dc6c9284010" /><Relationship Type="http://schemas.openxmlformats.org/officeDocument/2006/relationships/slide" Target="/ppt/slides/slide7.xml" Id="R92ff673e09cc47f1" /><Relationship Type="http://schemas.openxmlformats.org/officeDocument/2006/relationships/slide" Target="/ppt/slides/slide8.xml" Id="R68b321b8ec654978" /><Relationship Type="http://schemas.openxmlformats.org/officeDocument/2006/relationships/slide" Target="/ppt/slides/slide9.xml" Id="R2e462cb4512e4c7b" /><Relationship Type="http://schemas.openxmlformats.org/officeDocument/2006/relationships/slide" Target="/ppt/slides/slide10.xml" Id="R5a74a7c412c3489c" /><Relationship Type="http://schemas.openxmlformats.org/officeDocument/2006/relationships/slide" Target="/ppt/slides/slide11.xml" Id="R4f54897df5ed4b46" /><Relationship Type="http://schemas.openxmlformats.org/officeDocument/2006/relationships/slide" Target="/ppt/slides/slide12.xml" Id="R593860256b974c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91e6d96deb4a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dbc6e895a34c1f" /><Relationship Type="http://schemas.openxmlformats.org/officeDocument/2006/relationships/notesMaster" Target="/ppt/notesMasters/notesMaster1.xml" Id="R3106bce3c2db41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b0818f0401d4242" /><Relationship Type="http://schemas.openxmlformats.org/officeDocument/2006/relationships/notesMaster" Target="/ppt/notesMasters/notesMaster1.xml" Id="R06004d82a7754b82"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c569a28bdf4839" /><Relationship Type="http://schemas.openxmlformats.org/officeDocument/2006/relationships/notesMaster" Target="/ppt/notesMasters/notesMaster1.xml" Id="Rb3ec275e142742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84e23d78e842b3" /><Relationship Type="http://schemas.openxmlformats.org/officeDocument/2006/relationships/notesMaster" Target="/ppt/notesMasters/notesMaster1.xml" Id="Re80fe3b5e45d4d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ca85d0d36044d6" /><Relationship Type="http://schemas.openxmlformats.org/officeDocument/2006/relationships/notesMaster" Target="/ppt/notesMasters/notesMaster1.xml" Id="R4745217b4f594b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b83f8de81f4427" /><Relationship Type="http://schemas.openxmlformats.org/officeDocument/2006/relationships/notesMaster" Target="/ppt/notesMasters/notesMaster1.xml" Id="R0e2ba7f8141a42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4d5e6d63144138" /><Relationship Type="http://schemas.openxmlformats.org/officeDocument/2006/relationships/notesMaster" Target="/ppt/notesMasters/notesMaster1.xml" Id="R10abb009501644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cd3767cc5841e6" /><Relationship Type="http://schemas.openxmlformats.org/officeDocument/2006/relationships/notesMaster" Target="/ppt/notesMasters/notesMaster1.xml" Id="R0b35bf29027e41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dd65c3ca3749bf" /><Relationship Type="http://schemas.openxmlformats.org/officeDocument/2006/relationships/notesMaster" Target="/ppt/notesMasters/notesMaster1.xml" Id="Ra5ec975b38da4c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750d63e10d4a9e" /><Relationship Type="http://schemas.openxmlformats.org/officeDocument/2006/relationships/notesMaster" Target="/ppt/notesMasters/notesMaster1.xml" Id="R7399248fb2464be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8b95e5238514a1f" /><Relationship Type="http://schemas.openxmlformats.org/officeDocument/2006/relationships/notesMaster" Target="/ppt/notesMasters/notesMaster1.xml" Id="R14645281515f472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5fae61084504b03" /><Relationship Type="http://schemas.openxmlformats.org/officeDocument/2006/relationships/notesMaster" Target="/ppt/notesMasters/notesMaster1.xml" Id="R7e05543a93fd4e5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Artificial intelligence can reduce repetitive assessment work, but the purpose is not to remove the instructor. The purpose is to give instructors more time for observation, explanation, coaching and conversation. This presentation sets out how Chisimba keeps human judgement in charge while using AI as a practical assistant.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Marking matters, but much of its preparation is repetitive. Chisimba can prepare a structured first pass from student work and an agreed rubric. The instructor then spends less time assembling information and more time interpreting it. In field guide education, that returned time supports practical observation, species identification, guest communication and direct coaching outdoors.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Chisimba treats AI output as a draft. The suggestion can identify evidence, propose rubric levels, estimate a mark and draft feedback. The instructor reviews all of it. They can edit it, reject it or mark entirely by hand. AI never publishes the mark. The result that the instructor reviews and saves becomes the authoritative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is deliberately reviewable. Chisimba sends the task instructions, the student's response and the relevant rubric to the AI service. The service returns a suggestion. A queued worker means the instructor does not need to keep the page open. When the suggestion is ready, the instructor checks it against the original work before saving a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Field guide competence includes things that a language model cannot witness. AI may help an instructor review a written species account or a reflective field report. It cannot replace direct observation of safety, situational awareness, practical technique or communication with guests. Chisimba should support the evidence that technology can assess and leave field judgement with the person who was there.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rubric gives both the AI and the instructor an explicit basis for review. Chisimba supplies defaults for common Essay and Worksheet use, so instructors can begin without becoming rubric specialists. A custom rubric is useful only when the assessment needs different criteria. The rubric improves consistency, but the instructor still decides how the evidence fits each descriptor.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Ethical use depends on clear operational limits. AI suggestions do not publish themselves. Chisimba extracts text only from supported content and does not invent feedback from a filename. The instructor sees and edits the suggestion before saving. If AI is unavailable, or the task is not suitable for AI review, the instructor can continue with manual marking.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AI response should do more than produce a mark. It should point to evidence, identify strengths, suggest improvements and flag matters that require careful human judgement. The instructor then adapts the feedback to the student's work and the context in which it was produced. This keeps feedback specific and helps the instructor focus attention where it is most valuable.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Ethics includes how the system behaves when things go wrong. Chisimba queues AI work so a closed browser or short interruption does not lose the task. Modules use a provider-neutral service, which reduces dependence on one vendor. The system keeps the AI suggestion separate from the instructor's saved decision so responsibility remains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 of AI should appear in the teaching relationship. Instructors can spend more time observing practical work, discussing misconceptions, coaching individuals and refining the final feedback. We should judge the technology by whether it improves those activities, rather than by how many decisions it can automate.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responsible rollout starts with tested capabilities and bounded tasks. Administrators decide when a module is ready for production. Instructors choose whether AI support suits a particular assessment. Every suggestion receives human review, and manual marking remains available. Teams then learn from failures, confusing outcomes and the real effect on teaching time before expanding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measure of success is better teaching, clearer feedback and accountable decisions. AI supports the instructor. The instructor remains responsible. That principle lets Chisimba use new capability without losing the human expertise that education, and especially field education, depends 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94e2e924c140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6be9da0f424b98" /><Relationship Type="http://schemas.openxmlformats.org/officeDocument/2006/relationships/slideLayout" Target="/ppt/slideLayouts/slideLayout1.xml" Id="Rf55ed9509a6b4e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5ed9509a6b4e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929a8c33b1470f" /><Relationship Type="http://schemas.openxmlformats.org/officeDocument/2006/relationships/image" Target="/ppt/media/image.png" Id="Rc0f81f45fc794d75" /><Relationship Type="http://schemas.openxmlformats.org/officeDocument/2006/relationships/notesSlide" Target="/ppt/notesSlides/notesSlide1.xml" Id="R8f276ff0fed047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462620de44466b" /><Relationship Type="http://schemas.openxmlformats.org/officeDocument/2006/relationships/image" Target="/ppt/media/image2.png" Id="Rde61400790bb407c" /><Relationship Type="http://schemas.openxmlformats.org/officeDocument/2006/relationships/notesSlide" Target="/ppt/notesSlides/notesSlide2.xml" Id="Re0d403977d8a4c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c60c99fee5b468b" /><Relationship Type="http://schemas.openxmlformats.org/officeDocument/2006/relationships/notesSlide" Target="/ppt/notesSlides/notesSlide3.xml" Id="R99ebcbf2810e4f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84f5eef52b417d" /><Relationship Type="http://schemas.openxmlformats.org/officeDocument/2006/relationships/notesSlide" Target="/ppt/notesSlides/notesSlide4.xml" Id="R702379b4f4744d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f1a772011694b9e" /><Relationship Type="http://schemas.openxmlformats.org/officeDocument/2006/relationships/image" Target="/ppt/media/image3.png" Id="Ra8ca896056ff419f" /><Relationship Type="http://schemas.openxmlformats.org/officeDocument/2006/relationships/notesSlide" Target="/ppt/notesSlides/notesSlide5.xml" Id="R1c74045cb9db48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0eb4b4b8d7410b" /><Relationship Type="http://schemas.openxmlformats.org/officeDocument/2006/relationships/image" Target="/ppt/media/image4.png" Id="R8051858e39614dcc" /><Relationship Type="http://schemas.openxmlformats.org/officeDocument/2006/relationships/notesSlide" Target="/ppt/notesSlides/notesSlide6.xml" Id="R87e0cff244664b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623f54898ad43bc" /><Relationship Type="http://schemas.openxmlformats.org/officeDocument/2006/relationships/notesSlide" Target="/ppt/notesSlides/notesSlide7.xml" Id="Rd5b206f1ac6945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0ab53c1448a4a59" /><Relationship Type="http://schemas.openxmlformats.org/officeDocument/2006/relationships/notesSlide" Target="/ppt/notesSlides/notesSlide8.xml" Id="R93280b437f7f4a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016a475d94e4bfd" /><Relationship Type="http://schemas.openxmlformats.org/officeDocument/2006/relationships/image" Target="/ppt/media/image5.png" Id="Rabbaf23440464ca7" /><Relationship Type="http://schemas.openxmlformats.org/officeDocument/2006/relationships/notesSlide" Target="/ppt/notesSlides/notesSlide9.xml" Id="R901733842ac34a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fcab4b98a8a4644" /><Relationship Type="http://schemas.openxmlformats.org/officeDocument/2006/relationships/image" Target="/ppt/media/image6.png" Id="R5126ffea463943e8" /><Relationship Type="http://schemas.openxmlformats.org/officeDocument/2006/relationships/notesSlide" Target="/ppt/notesSlides/notesSlide10.xml" Id="R04bdf59d366346c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e3bdbfbdc9542c4" /><Relationship Type="http://schemas.openxmlformats.org/officeDocument/2006/relationships/notesSlide" Target="/ppt/notesSlides/notesSlide11.xml" Id="Rcf13650b86cc431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d2dde5210c14933" /><Relationship Type="http://schemas.openxmlformats.org/officeDocument/2006/relationships/notesSlide" Target="/ppt/notesSlides/notesSlide12.xml" Id="R4d45e0cb08894b2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0f81f45fc794d7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E55EC6-528B-4167-9D56-D91D1F71BDC5}"/>
              </a:ext>
            </a:extLst>
          </p:cNvPr>
          <p:cNvSpPr>
            <a:spLocks xmlns:a="http://schemas.openxmlformats.org/drawingml/2006/main" noGrp="1"/>
          </p:cNvSpPr>
          <p:nvPr/>
        </p:nvSpPr>
        <p:spPr>
          <a:xfrm xmlns:a="http://schemas.openxmlformats.org/drawingml/2006/main">
            <a:off x="704850" y="1619250"/>
            <a:ext cx="53340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Ethical AI for</a:t>
            </a:r>
          </a:p>
          <a:p xmlns:a="http://schemas.openxmlformats.org/drawingml/2006/main">
            <a:pPr algn="l">
              <a:defRPr sz="3600" b="1">
                <a:solidFill>
                  <a:srgbClr val="FFFFFF"/>
                </a:solidFill>
                <a:latin typeface="Aptos Display"/>
                <a:ea typeface="Aptos Display"/>
                <a:cs typeface="Aptos Display"/>
              </a:defRPr>
            </a:pPr>
            <a:r>
              <a:rPr sz="3600" b="1">
                <a:solidFill>
                  <a:srgbClr val="FFFFFF"/>
                </a:solidFill>
                <a:latin typeface="Aptos Display"/>
                <a:ea typeface="Aptos Display"/>
                <a:cs typeface="Aptos Display"/>
              </a:rPr>
              <a:t>field guide education</a:t>
            </a:r>
          </a:p>
        </p:txBody>
      </p:sp>
      <p:sp>
        <p:nvSpPr>
          <p:cNvPr id="3" name="">
            <a:extLst xmlns:a="http://schemas.openxmlformats.org/drawingml/2006/main">
              <a:ext uri="{FF2B5EF4-FFF2-40B4-BE49-F238E27FC236}">
                <a16:creationId xmlns:a16="http://schemas.microsoft.com/office/drawing/2014/main" id="{EB472BE9-1AF8-4806-8A41-AAD5EA629C25}"/>
              </a:ext>
            </a:extLst>
          </p:cNvPr>
          <p:cNvSpPr>
            <a:spLocks xmlns:a="http://schemas.openxmlformats.org/drawingml/2006/main" noGrp="1"/>
          </p:cNvSpPr>
          <p:nvPr/>
        </p:nvSpPr>
        <p:spPr>
          <a:xfrm xmlns:a="http://schemas.openxmlformats.org/drawingml/2006/main">
            <a:off x="742950" y="3524250"/>
            <a:ext cx="4476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725" b="0">
                <a:solidFill>
                  <a:srgbClr val="EAF1E8"/>
                </a:solidFill>
                <a:latin typeface="Aptos"/>
                <a:ea typeface="Aptos"/>
                <a:cs typeface="Aptos"/>
              </a:defRPr>
            </a:pPr>
            <a:r>
              <a:rPr sz="1725" b="0">
                <a:solidFill>
                  <a:srgbClr val="EAF1E8"/>
                </a:solidFill>
                <a:latin typeface="Aptos"/>
                <a:ea typeface="Aptos"/>
                <a:cs typeface="Aptos"/>
              </a:rPr>
              <a:t>More time for instruction</a:t>
            </a:r>
          </a:p>
          <a:p xmlns:a="http://schemas.openxmlformats.org/drawingml/2006/main">
            <a:pPr algn="l">
              <a:defRPr sz="1725" b="0">
                <a:solidFill>
                  <a:srgbClr val="EAF1E8"/>
                </a:solidFill>
                <a:latin typeface="Aptos"/>
                <a:ea typeface="Aptos"/>
                <a:cs typeface="Aptos"/>
              </a:defRPr>
            </a:pPr>
            <a:r>
              <a:rPr sz="1725" b="0">
                <a:solidFill>
                  <a:srgbClr val="EAF1E8"/>
                </a:solidFill>
                <a:latin typeface="Aptos"/>
                <a:ea typeface="Aptos"/>
                <a:cs typeface="Aptos"/>
              </a:rPr>
              <a:t>Human judgement stays in charge</a:t>
            </a:r>
          </a:p>
        </p:txBody>
      </p:sp>
      <p:sp>
        <p:nvSpPr>
          <p:cNvPr id="4" name="">
            <a:extLst xmlns:a="http://schemas.openxmlformats.org/drawingml/2006/main">
              <a:ext uri="{FF2B5EF4-FFF2-40B4-BE49-F238E27FC236}">
                <a16:creationId xmlns:a16="http://schemas.microsoft.com/office/drawing/2014/main" id="{78AB43D2-5054-4C08-95F5-BF1CE57B3013}"/>
              </a:ext>
            </a:extLst>
          </p:cNvPr>
          <p:cNvSpPr>
            <a:spLocks xmlns:a="http://schemas.openxmlformats.org/drawingml/2006/main" noGrp="1"/>
          </p:cNvSpPr>
          <p:nvPr/>
        </p:nvSpPr>
        <p:spPr>
          <a:xfrm xmlns:a="http://schemas.openxmlformats.org/drawingml/2006/main">
            <a:off x="742950" y="4629150"/>
            <a:ext cx="895350" cy="57150"/>
          </a:xfrm>
          <a:prstGeom xmlns:a="http://schemas.openxmlformats.org/drawingml/2006/main" prst="rect">
            <a:avLst/>
          </a:prstGeom>
          <a:solidFill xmlns:a="http://schemas.openxmlformats.org/drawingml/2006/main">
            <a:srgbClr val="9BB35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147E00-CF43-4950-B0D0-16DBEF8AE6D2}"/>
              </a:ext>
            </a:extLst>
          </p:cNvPr>
          <p:cNvSpPr>
            <a:spLocks xmlns:a="http://schemas.openxmlformats.org/drawingml/2006/main" noGrp="1"/>
          </p:cNvSpPr>
          <p:nvPr/>
        </p:nvSpPr>
        <p:spPr>
          <a:xfrm xmlns:a="http://schemas.openxmlformats.org/drawingml/2006/main">
            <a:off x="742950" y="490537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FFFFFF"/>
                </a:solidFill>
                <a:latin typeface="Aptos"/>
                <a:ea typeface="Aptos"/>
                <a:cs typeface="Aptos"/>
              </a:defRPr>
            </a:pPr>
            <a:r>
              <a:rPr sz="1275" b="1">
                <a:solidFill>
                  <a:srgbClr val="FFFFFF"/>
                </a:solidFill>
                <a:latin typeface="Aptos"/>
                <a:ea typeface="Aptos"/>
                <a:cs typeface="Aptos"/>
              </a:rPr>
              <a:t>Chisimba 26</a:t>
            </a:r>
          </a:p>
        </p:txBody>
      </p:sp>
    </p:spTree>
    <p:extLst>
      <p:ext uri="{BB962C8B-B14F-4D97-AF65-F5344CB8AC3E}">
        <p14:creationId xmlns:p14="http://schemas.microsoft.com/office/powerpoint/2010/main" val="426816728"/>
      </p:ext>
    </p:extLst>
  </p:cSld>
</p:sld>
</file>

<file path=ppt/slides/slide2.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863D769-C200-4E8C-B19E-510F02FA9FEE}"/>
              </a:ext>
            </a:extLst>
          </p:cNvPr>
          <p:cNvSpPr>
            <a:spLocks xmlns:a="http://schemas.openxmlformats.org/drawingml/2006/main" noGrp="1"/>
          </p:cNvSpPr>
          <p:nvPr/>
        </p:nvSpPr>
        <p:spPr>
          <a:xfrm xmlns:a="http://schemas.openxmlformats.org/drawingml/2006/main">
            <a:off x="647700" y="400050"/>
            <a:ext cx="609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3B6641"/>
                </a:solidFill>
                <a:latin typeface="Aptos"/>
                <a:ea typeface="Aptos"/>
                <a:cs typeface="Aptos"/>
              </a:defRPr>
            </a:pPr>
            <a:r>
              <a:rPr sz="975" b="1">
                <a:solidFill>
                  <a:srgbClr val="3B6641"/>
                </a:solidFill>
                <a:latin typeface="Aptos"/>
                <a:ea typeface="Aptos"/>
                <a:cs typeface="Aptos"/>
              </a:rPr>
              <a:t>WHY USE AI</a:t>
            </a:r>
          </a:p>
        </p:txBody>
      </p:sp>
      <p:sp>
        <p:nvSpPr>
          <p:cNvPr id="2" name="">
            <a:extLst xmlns:a="http://schemas.openxmlformats.org/drawingml/2006/main">
              <a:ext uri="{FF2B5EF4-FFF2-40B4-BE49-F238E27FC236}">
                <a16:creationId xmlns:a16="http://schemas.microsoft.com/office/drawing/2014/main" id="{D739D231-E5E2-4CC2-BD92-70CE10FAA77A}"/>
              </a:ext>
            </a:extLst>
          </p:cNvPr>
          <p:cNvSpPr>
            <a:spLocks xmlns:a="http://schemas.openxmlformats.org/drawingml/2006/main" noGrp="1"/>
          </p:cNvSpPr>
          <p:nvPr/>
        </p:nvSpPr>
        <p:spPr>
          <a:xfrm xmlns:a="http://schemas.openxmlformats.org/drawingml/2006/main">
            <a:off x="647700" y="6667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B3F"/>
                </a:solidFill>
                <a:latin typeface="Aptos Display"/>
                <a:ea typeface="Aptos Display"/>
                <a:cs typeface="Aptos Display"/>
              </a:defRPr>
            </a:pPr>
            <a:r>
              <a:rPr sz="2550" b="1">
                <a:solidFill>
                  <a:srgbClr val="102B3F"/>
                </a:solidFill>
                <a:latin typeface="Aptos Display"/>
                <a:ea typeface="Aptos Display"/>
                <a:cs typeface="Aptos Display"/>
              </a:rPr>
              <a:t>The purpose is more time for teaching</a:t>
            </a:r>
          </a:p>
        </p:txBody>
      </p:sp>
      <p:sp>
        <p:nvSpPr>
          <p:cNvPr id="3" name="">
            <a:extLst xmlns:a="http://schemas.openxmlformats.org/drawingml/2006/main">
              <a:ext uri="{FF2B5EF4-FFF2-40B4-BE49-F238E27FC236}">
                <a16:creationId xmlns:a16="http://schemas.microsoft.com/office/drawing/2014/main" id="{BDD5CFE2-3971-4C5B-937C-E1A385DDA77D}"/>
              </a:ext>
            </a:extLst>
          </p:cNvPr>
          <p:cNvSpPr>
            <a:spLocks xmlns:a="http://schemas.openxmlformats.org/drawingml/2006/main" noGrp="1"/>
          </p:cNvSpPr>
          <p:nvPr/>
        </p:nvSpPr>
        <p:spPr>
          <a:xfrm xmlns:a="http://schemas.openxmlformats.org/drawingml/2006/main">
            <a:off x="647700" y="1257300"/>
            <a:ext cx="742950" cy="47625"/>
          </a:xfrm>
          <a:prstGeom xmlns:a="http://schemas.openxmlformats.org/drawingml/2006/main" prst="rect">
            <a:avLst/>
          </a:prstGeom>
          <a:solidFill xmlns:a="http://schemas.openxmlformats.org/drawingml/2006/main">
            <a:srgbClr val="9BB35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7CB98D9-B87F-4E44-A48C-1573988E62D0}"/>
              </a:ext>
            </a:extLst>
          </p:cNvPr>
          <p:cNvSpPr>
            <a:spLocks xmlns:a="http://schemas.openxmlformats.org/drawingml/2006/main" noGrp="1"/>
          </p:cNvSpPr>
          <p:nvPr/>
        </p:nvSpPr>
        <p:spPr>
          <a:xfrm xmlns:a="http://schemas.openxmlformats.org/drawingml/2006/main">
            <a:off x="685800" y="163830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17212B"/>
                </a:solidFill>
                <a:latin typeface="Aptos"/>
                <a:ea typeface="Aptos"/>
                <a:cs typeface="Aptos"/>
              </a:defRPr>
            </a:pPr>
            <a:r>
              <a:rPr sz="1875" b="0">
                <a:solidFill>
                  <a:srgbClr val="17212B"/>
                </a:solidFill>
                <a:latin typeface="Aptos"/>
                <a:ea typeface="Aptos"/>
                <a:cs typeface="Aptos"/>
              </a:rPr>
              <a:t>Assessment preparation can consume the same hours that instructors need for field practice and individual feedback.</a:t>
            </a:r>
          </a:p>
        </p:txBody>
      </p:sp>
      <p:sp>
        <p:nvSpPr>
          <p:cNvPr id="5" name="">
            <a:extLst xmlns:a="http://schemas.openxmlformats.org/drawingml/2006/main">
              <a:ext uri="{FF2B5EF4-FFF2-40B4-BE49-F238E27FC236}">
                <a16:creationId xmlns:a16="http://schemas.microsoft.com/office/drawing/2014/main" id="{6042D459-03C0-48BC-ABEF-7C50D55AE19B}"/>
              </a:ext>
            </a:extLst>
          </p:cNvPr>
          <p:cNvSpPr>
            <a:spLocks xmlns:a="http://schemas.openxmlformats.org/drawingml/2006/main" noGrp="1"/>
          </p:cNvSpPr>
          <p:nvPr/>
        </p:nvSpPr>
        <p:spPr>
          <a:xfrm xmlns:a="http://schemas.openxmlformats.org/drawingml/2006/main">
            <a:off x="685800" y="3209925"/>
            <a:ext cx="114300" cy="114300"/>
          </a:xfrm>
          <a:prstGeom xmlns:a="http://schemas.openxmlformats.org/drawingml/2006/main" prst="roundRect">
            <a:avLst>
              <a:gd name="adj" fmla="val 50000"/>
            </a:avLst>
          </a:prstGeom>
          <a:solidFill xmlns:a="http://schemas.openxmlformats.org/drawingml/2006/main">
            <a:srgbClr val="3B6641"/>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2E4A56A-DB5C-4CE5-9DDC-837BC4DD4AB0}"/>
              </a:ext>
            </a:extLst>
          </p:cNvPr>
          <p:cNvSpPr>
            <a:spLocks xmlns:a="http://schemas.openxmlformats.org/drawingml/2006/main" noGrp="1"/>
          </p:cNvSpPr>
          <p:nvPr/>
        </p:nvSpPr>
        <p:spPr>
          <a:xfrm xmlns:a="http://schemas.openxmlformats.org/drawingml/2006/main">
            <a:off x="971550" y="312420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l">
              <a:defRPr sz="1650" b="1">
                <a:solidFill>
                  <a:srgbClr val="102B3F"/>
                </a:solidFill>
                <a:latin typeface="Aptos"/>
                <a:ea typeface="Aptos"/>
                <a:cs typeface="Aptos"/>
              </a:defRPr>
            </a:pPr>
            <a:r>
              <a:rPr sz="1650" b="1">
                <a:solidFill>
                  <a:srgbClr val="102B3F"/>
                </a:solidFill>
                <a:latin typeface="Aptos"/>
                <a:ea typeface="Aptos"/>
                <a:cs typeface="Aptos"/>
              </a:rPr>
              <a:t>AI prepares a first pass</a:t>
            </a:r>
          </a:p>
        </p:txBody>
      </p:sp>
      <p:sp>
        <p:nvSpPr>
          <p:cNvPr id="7" name="">
            <a:extLst xmlns:a="http://schemas.openxmlformats.org/drawingml/2006/main">
              <a:ext uri="{FF2B5EF4-FFF2-40B4-BE49-F238E27FC236}">
                <a16:creationId xmlns:a16="http://schemas.microsoft.com/office/drawing/2014/main" id="{4A1310FF-3108-469A-AC12-979A526286AB}"/>
              </a:ext>
            </a:extLst>
          </p:cNvPr>
          <p:cNvSpPr>
            <a:spLocks xmlns:a="http://schemas.openxmlformats.org/drawingml/2006/main" noGrp="1"/>
          </p:cNvSpPr>
          <p:nvPr/>
        </p:nvSpPr>
        <p:spPr>
          <a:xfrm xmlns:a="http://schemas.openxmlformats.org/drawingml/2006/main">
            <a:off x="971550" y="3467100"/>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C676F"/>
                </a:solidFill>
                <a:latin typeface="Aptos"/>
                <a:ea typeface="Aptos"/>
                <a:cs typeface="Aptos"/>
              </a:defRPr>
            </a:pPr>
            <a:r>
              <a:rPr sz="1350" b="0">
                <a:solidFill>
                  <a:srgbClr val="5C676F"/>
                </a:solidFill>
                <a:latin typeface="Aptos"/>
                <a:ea typeface="Aptos"/>
                <a:cs typeface="Aptos"/>
              </a:rPr>
              <a:t>It organises written evidence, applies the supplied rubric and drafts feedback for review.</a:t>
            </a:r>
          </a:p>
        </p:txBody>
      </p:sp>
      <p:sp>
        <p:nvSpPr>
          <p:cNvPr id="8" name="">
            <a:extLst xmlns:a="http://schemas.openxmlformats.org/drawingml/2006/main">
              <a:ext uri="{FF2B5EF4-FFF2-40B4-BE49-F238E27FC236}">
                <a16:creationId xmlns:a16="http://schemas.microsoft.com/office/drawing/2014/main" id="{863BBB82-BB5A-4DD5-8651-AA5E03997CEC}"/>
              </a:ext>
            </a:extLst>
          </p:cNvPr>
          <p:cNvSpPr>
            <a:spLocks xmlns:a="http://schemas.openxmlformats.org/drawingml/2006/main" noGrp="1"/>
          </p:cNvSpPr>
          <p:nvPr/>
        </p:nvSpPr>
        <p:spPr>
          <a:xfrm xmlns:a="http://schemas.openxmlformats.org/drawingml/2006/main">
            <a:off x="685800" y="4591050"/>
            <a:ext cx="114300" cy="114300"/>
          </a:xfrm>
          <a:prstGeom xmlns:a="http://schemas.openxmlformats.org/drawingml/2006/main" prst="roundRect">
            <a:avLst>
              <a:gd name="adj" fmla="val 50000"/>
            </a:avLst>
          </a:prstGeom>
          <a:solidFill xmlns:a="http://schemas.openxmlformats.org/drawingml/2006/main">
            <a:srgbClr val="9BB35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F6CD4FC-C164-4E30-B1AF-B6BF3F712F5B}"/>
              </a:ext>
            </a:extLst>
          </p:cNvPr>
          <p:cNvSpPr>
            <a:spLocks xmlns:a="http://schemas.openxmlformats.org/drawingml/2006/main" noGrp="1"/>
          </p:cNvSpPr>
          <p:nvPr/>
        </p:nvSpPr>
        <p:spPr>
          <a:xfrm xmlns:a="http://schemas.openxmlformats.org/drawingml/2006/main">
            <a:off x="971550" y="4505325"/>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l">
              <a:defRPr sz="1650" b="1">
                <a:solidFill>
                  <a:srgbClr val="102B3F"/>
                </a:solidFill>
                <a:latin typeface="Aptos"/>
                <a:ea typeface="Aptos"/>
                <a:cs typeface="Aptos"/>
              </a:defRPr>
            </a:pPr>
            <a:r>
              <a:rPr sz="1650" b="1">
                <a:solidFill>
                  <a:srgbClr val="102B3F"/>
                </a:solidFill>
                <a:latin typeface="Aptos"/>
                <a:ea typeface="Aptos"/>
                <a:cs typeface="Aptos"/>
              </a:rPr>
              <a:t>The instructor uses the time</a:t>
            </a:r>
          </a:p>
        </p:txBody>
      </p:sp>
      <p:sp>
        <p:nvSpPr>
          <p:cNvPr id="10" name="">
            <a:extLst xmlns:a="http://schemas.openxmlformats.org/drawingml/2006/main">
              <a:ext uri="{FF2B5EF4-FFF2-40B4-BE49-F238E27FC236}">
                <a16:creationId xmlns:a16="http://schemas.microsoft.com/office/drawing/2014/main" id="{4FD50B80-AE0C-4C6B-85B0-EC108FF257D8}"/>
              </a:ext>
            </a:extLst>
          </p:cNvPr>
          <p:cNvSpPr>
            <a:spLocks xmlns:a="http://schemas.openxmlformats.org/drawingml/2006/main" noGrp="1"/>
          </p:cNvSpPr>
          <p:nvPr/>
        </p:nvSpPr>
        <p:spPr>
          <a:xfrm xmlns:a="http://schemas.openxmlformats.org/drawingml/2006/main">
            <a:off x="971550" y="4848225"/>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C676F"/>
                </a:solidFill>
                <a:latin typeface="Aptos"/>
                <a:ea typeface="Aptos"/>
                <a:cs typeface="Aptos"/>
              </a:defRPr>
            </a:pPr>
            <a:r>
              <a:rPr sz="1350" b="0">
                <a:solidFill>
                  <a:srgbClr val="5C676F"/>
                </a:solidFill>
                <a:latin typeface="Aptos"/>
                <a:ea typeface="Aptos"/>
                <a:cs typeface="Aptos"/>
              </a:rPr>
              <a:t>More attention can return to observation, discussion and practical guidance in the field.</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de61400790bb407c"/>
          <a:srcRect xmlns:a="http://schemas.openxmlformats.org/drawingml/2006/main" l="21860" t="0" r="21860" b="0"/>
          <a:stretch xmlns:a="http://schemas.openxmlformats.org/drawingml/2006/main">
            <a:fillRect l="0" t="0" r="0" b="0"/>
          </a:stretch>
        </p:blipFill>
        <p:spPr>
          <a:xfrm xmlns:a="http://schemas.openxmlformats.org/drawingml/2006/main">
            <a:off x="6096000" y="0"/>
            <a:ext cx="6096000" cy="60960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B7F9A23-6610-4E12-8187-BCFB33401EA3}"/>
              </a:ext>
            </a:extLst>
          </p:cNvPr>
          <p:cNvSpPr>
            <a:spLocks xmlns:a="http://schemas.openxmlformats.org/drawingml/2006/main" noGrp="1"/>
          </p:cNvSpPr>
          <p:nvPr/>
        </p:nvSpPr>
        <p:spPr>
          <a:xfrm xmlns:a="http://schemas.openxmlformats.org/drawingml/2006/main">
            <a:off x="6096000" y="0"/>
            <a:ext cx="95250" cy="6096000"/>
          </a:xfrm>
          <a:prstGeom xmlns:a="http://schemas.openxmlformats.org/drawingml/2006/main" prst="rect">
            <a:avLst/>
          </a:prstGeom>
          <a:solidFill xmlns:a="http://schemas.openxmlformats.org/drawingml/2006/main">
            <a:srgbClr val="9BB35C"/>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1BB3E21-D9C4-4631-B2B1-12F86569101C}"/>
              </a:ext>
            </a:extLst>
          </p:cNvPr>
          <p:cNvSpPr>
            <a:spLocks xmlns:a="http://schemas.openxmlformats.org/drawingml/2006/main" noGrp="1"/>
          </p:cNvSpPr>
          <p:nvPr/>
        </p:nvSpPr>
        <p:spPr>
          <a:xfrm xmlns:a="http://schemas.openxmlformats.org/drawingml/2006/main">
            <a:off x="647700" y="64770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lgn="l">
              <a:defRPr sz="750" b="0">
                <a:solidFill>
                  <a:srgbClr val="5C676F"/>
                </a:solidFill>
                <a:latin typeface="Aptos"/>
                <a:ea typeface="Aptos"/>
                <a:cs typeface="Aptos"/>
              </a:defRPr>
            </a:pPr>
            <a:r>
              <a:rPr sz="750" b="0">
                <a:solidFill>
                  <a:srgbClr val="5C676F"/>
                </a:solidFill>
                <a:latin typeface="Aptos"/>
                <a:ea typeface="Aptos"/>
                <a:cs typeface="Aptos"/>
              </a:rPr>
              <a:t>Ethical AI for field guide education</a:t>
            </a:r>
          </a:p>
        </p:txBody>
      </p:sp>
      <p:sp>
        <p:nvSpPr>
          <p:cNvPr id="14" name="">
            <a:extLst xmlns:a="http://schemas.openxmlformats.org/drawingml/2006/main">
              <a:ext uri="{FF2B5EF4-FFF2-40B4-BE49-F238E27FC236}">
                <a16:creationId xmlns:a16="http://schemas.microsoft.com/office/drawing/2014/main" id="{F7F97D4F-00A8-46DC-AD3E-7943D65A840E}"/>
              </a:ext>
            </a:extLst>
          </p:cNvPr>
          <p:cNvSpPr>
            <a:spLocks xmlns:a="http://schemas.openxmlformats.org/drawingml/2006/main" noGrp="1"/>
          </p:cNvSpPr>
          <p:nvPr/>
        </p:nvSpPr>
        <p:spPr>
          <a:xfrm xmlns:a="http://schemas.openxmlformats.org/drawingml/2006/main">
            <a:off x="11049000" y="6477000"/>
            <a:ext cx="495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lgn="r">
              <a:defRPr sz="750" b="0">
                <a:solidFill>
                  <a:srgbClr val="5C676F"/>
                </a:solidFill>
                <a:latin typeface="Aptos"/>
                <a:ea typeface="Aptos"/>
                <a:cs typeface="Aptos"/>
              </a:defRPr>
            </a:pPr>
            <a:r>
              <a:rPr sz="750" b="0">
                <a:solidFill>
                  <a:srgbClr val="5C676F"/>
                </a:solidFill>
                <a:latin typeface="Aptos"/>
                <a:ea typeface="Aptos"/>
                <a:cs typeface="Aptos"/>
              </a:rPr>
              <a:t>02</a:t>
            </a:r>
          </a:p>
        </p:txBody>
      </p:sp>
    </p:spTree>
    <p:extLst>
      <p:ext uri="{BB962C8B-B14F-4D97-AF65-F5344CB8AC3E}">
        <p14:creationId xmlns:p14="http://schemas.microsoft.com/office/powerpoint/2010/main" val="1729785039"/>
      </p:ext>
    </p:extLst>
  </p:cSld>
</p:sld>
</file>

<file path=ppt/slides/slide3.xml><?xml version="1.0" encoding="utf-8"?>
<p:sld xmlns:p="http://schemas.openxmlformats.org/presentationml/2006/main">
  <p:cSld>
    <p:bg>
      <p:bgPr>
        <a:solidFill xmlns:a="http://schemas.openxmlformats.org/drawingml/2006/main">
          <a:srgbClr val="102B3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9F5A138-EA75-4F5C-9B46-CC3BCAF1CC83}"/>
              </a:ext>
            </a:extLst>
          </p:cNvPr>
          <p:cNvSpPr>
            <a:spLocks xmlns:a="http://schemas.openxmlformats.org/drawingml/2006/main" noGrp="1"/>
          </p:cNvSpPr>
          <p:nvPr/>
        </p:nvSpPr>
        <p:spPr>
          <a:xfrm xmlns:a="http://schemas.openxmlformats.org/drawingml/2006/main">
            <a:off x="666750" y="514350"/>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FFFFFF"/>
                </a:solidFill>
                <a:latin typeface="Aptos Display"/>
                <a:ea typeface="Aptos Display"/>
                <a:cs typeface="Aptos Display"/>
              </a:defRPr>
            </a:pPr>
            <a:r>
              <a:rPr sz="2700" b="1">
                <a:solidFill>
                  <a:srgbClr val="FFFFFF"/>
                </a:solidFill>
                <a:latin typeface="Aptos Display"/>
                <a:ea typeface="Aptos Display"/>
                <a:cs typeface="Aptos Display"/>
              </a:rPr>
              <a:t>Human responsibility</a:t>
            </a:r>
          </a:p>
        </p:txBody>
      </p:sp>
      <p:sp>
        <p:nvSpPr>
          <p:cNvPr id="2" name="">
            <a:extLst xmlns:a="http://schemas.openxmlformats.org/drawingml/2006/main">
              <a:ext uri="{FF2B5EF4-FFF2-40B4-BE49-F238E27FC236}">
                <a16:creationId xmlns:a16="http://schemas.microsoft.com/office/drawing/2014/main" id="{D89152F4-7C10-48D8-9E34-EEB06F9E5E47}"/>
              </a:ext>
            </a:extLst>
          </p:cNvPr>
          <p:cNvSpPr>
            <a:spLocks xmlns:a="http://schemas.openxmlformats.org/drawingml/2006/main" noGrp="1"/>
          </p:cNvSpPr>
          <p:nvPr/>
        </p:nvSpPr>
        <p:spPr>
          <a:xfrm xmlns:a="http://schemas.openxmlformats.org/drawingml/2006/main">
            <a:off x="838200" y="1685925"/>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C9D8E1"/>
                </a:solidFill>
                <a:latin typeface="Aptos"/>
                <a:ea typeface="Aptos"/>
                <a:cs typeface="Aptos"/>
              </a:defRPr>
            </a:pPr>
            <a:r>
              <a:rPr sz="1950" b="1">
                <a:solidFill>
                  <a:srgbClr val="C9D8E1"/>
                </a:solidFill>
                <a:latin typeface="Aptos"/>
                <a:ea typeface="Aptos"/>
                <a:cs typeface="Aptos"/>
              </a:rPr>
              <a:t>AI can suggest</a:t>
            </a:r>
          </a:p>
        </p:txBody>
      </p:sp>
      <p:sp>
        <p:nvSpPr>
          <p:cNvPr id="3" name="">
            <a:extLst xmlns:a="http://schemas.openxmlformats.org/drawingml/2006/main">
              <a:ext uri="{FF2B5EF4-FFF2-40B4-BE49-F238E27FC236}">
                <a16:creationId xmlns:a16="http://schemas.microsoft.com/office/drawing/2014/main" id="{F15D10DB-1CDA-4A16-B1E6-BC377F59A67A}"/>
              </a:ext>
            </a:extLst>
          </p:cNvPr>
          <p:cNvSpPr>
            <a:spLocks xmlns:a="http://schemas.openxmlformats.org/drawingml/2006/main" noGrp="1"/>
          </p:cNvSpPr>
          <p:nvPr/>
        </p:nvSpPr>
        <p:spPr>
          <a:xfrm xmlns:a="http://schemas.openxmlformats.org/drawingml/2006/main">
            <a:off x="838200" y="2247900"/>
            <a:ext cx="4000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FFFFFF"/>
                </a:solidFill>
                <a:latin typeface="Aptos"/>
                <a:ea typeface="Aptos"/>
                <a:cs typeface="Aptos"/>
              </a:defRPr>
            </a:pPr>
            <a:r>
              <a:rPr sz="1875" b="0">
                <a:solidFill>
                  <a:srgbClr val="FFFFFF"/>
                </a:solidFill>
                <a:latin typeface="Aptos"/>
                <a:ea typeface="Aptos"/>
                <a:cs typeface="Aptos"/>
              </a:rPr>
              <a:t>evidence to review</a:t>
            </a:r>
          </a:p>
          <a:p xmlns:a="http://schemas.openxmlformats.org/drawingml/2006/main">
            <a:pPr algn="l">
              <a:defRPr sz="1875" b="0">
                <a:solidFill>
                  <a:srgbClr val="FFFFFF"/>
                </a:solidFill>
                <a:latin typeface="Aptos"/>
                <a:ea typeface="Aptos"/>
                <a:cs typeface="Aptos"/>
              </a:defRPr>
            </a:pPr>
            <a:r>
              <a:rPr sz="1875" b="0">
                <a:solidFill>
                  <a:srgbClr val="FFFFFF"/>
                </a:solidFill>
                <a:latin typeface="Aptos"/>
                <a:ea typeface="Aptos"/>
                <a:cs typeface="Aptos"/>
              </a:rPr>
              <a:t>rubric levels</a:t>
            </a:r>
          </a:p>
          <a:p xmlns:a="http://schemas.openxmlformats.org/drawingml/2006/main">
            <a:pPr algn="l">
              <a:defRPr sz="1875" b="0">
                <a:solidFill>
                  <a:srgbClr val="FFFFFF"/>
                </a:solidFill>
                <a:latin typeface="Aptos"/>
                <a:ea typeface="Aptos"/>
                <a:cs typeface="Aptos"/>
              </a:defRPr>
            </a:pPr>
            <a:r>
              <a:rPr sz="1875" b="0">
                <a:solidFill>
                  <a:srgbClr val="FFFFFF"/>
                </a:solidFill>
                <a:latin typeface="Aptos"/>
                <a:ea typeface="Aptos"/>
                <a:cs typeface="Aptos"/>
              </a:rPr>
              <a:t>a provisional mark</a:t>
            </a:r>
          </a:p>
          <a:p xmlns:a="http://schemas.openxmlformats.org/drawingml/2006/main">
            <a:pPr algn="l">
              <a:defRPr sz="1875" b="0">
                <a:solidFill>
                  <a:srgbClr val="FFFFFF"/>
                </a:solidFill>
                <a:latin typeface="Aptos"/>
                <a:ea typeface="Aptos"/>
                <a:cs typeface="Aptos"/>
              </a:defRPr>
            </a:pPr>
            <a:r>
              <a:rPr sz="1875" b="0">
                <a:solidFill>
                  <a:srgbClr val="FFFFFF"/>
                </a:solidFill>
                <a:latin typeface="Aptos"/>
                <a:ea typeface="Aptos"/>
                <a:cs typeface="Aptos"/>
              </a:rPr>
              <a:t>draft feedback</a:t>
            </a:r>
          </a:p>
        </p:txBody>
      </p:sp>
      <p:sp>
        <p:nvSpPr>
          <p:cNvPr id="4" name="">
            <a:extLst xmlns:a="http://schemas.openxmlformats.org/drawingml/2006/main">
              <a:ext uri="{FF2B5EF4-FFF2-40B4-BE49-F238E27FC236}">
                <a16:creationId xmlns:a16="http://schemas.microsoft.com/office/drawing/2014/main" id="{D8B648B6-8316-4DB2-BCA7-5BEF605BD9C1}"/>
              </a:ext>
            </a:extLst>
          </p:cNvPr>
          <p:cNvSpPr>
            <a:spLocks xmlns:a="http://schemas.openxmlformats.org/drawingml/2006/main" noGrp="1"/>
          </p:cNvSpPr>
          <p:nvPr/>
        </p:nvSpPr>
        <p:spPr>
          <a:xfrm xmlns:a="http://schemas.openxmlformats.org/drawingml/2006/main">
            <a:off x="5391150" y="1504950"/>
            <a:ext cx="28575" cy="3276600"/>
          </a:xfrm>
          <a:prstGeom xmlns:a="http://schemas.openxmlformats.org/drawingml/2006/main" prst="rect">
            <a:avLst/>
          </a:prstGeom>
          <a:solidFill xmlns:a="http://schemas.openxmlformats.org/drawingml/2006/main">
            <a:srgbClr val="9BB35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4B30BA3-6ECD-4185-A4B3-5C02A0FE1E55}"/>
              </a:ext>
            </a:extLst>
          </p:cNvPr>
          <p:cNvSpPr>
            <a:spLocks xmlns:a="http://schemas.openxmlformats.org/drawingml/2006/main" noGrp="1"/>
          </p:cNvSpPr>
          <p:nvPr/>
        </p:nvSpPr>
        <p:spPr>
          <a:xfrm xmlns:a="http://schemas.openxmlformats.org/drawingml/2006/main">
            <a:off x="6057900" y="16859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9BB35C"/>
                </a:solidFill>
                <a:latin typeface="Aptos"/>
                <a:ea typeface="Aptos"/>
                <a:cs typeface="Aptos"/>
              </a:defRPr>
            </a:pPr>
            <a:r>
              <a:rPr sz="1950" b="1">
                <a:solidFill>
                  <a:srgbClr val="9BB35C"/>
                </a:solidFill>
                <a:latin typeface="Aptos"/>
                <a:ea typeface="Aptos"/>
                <a:cs typeface="Aptos"/>
              </a:rPr>
              <a:t>The instructor decides</a:t>
            </a:r>
          </a:p>
        </p:txBody>
      </p:sp>
      <p:sp>
        <p:nvSpPr>
          <p:cNvPr id="6" name="">
            <a:extLst xmlns:a="http://schemas.openxmlformats.org/drawingml/2006/main">
              <a:ext uri="{FF2B5EF4-FFF2-40B4-BE49-F238E27FC236}">
                <a16:creationId xmlns:a16="http://schemas.microsoft.com/office/drawing/2014/main" id="{4F119004-7584-4263-9AE0-1CD2DD821507}"/>
              </a:ext>
            </a:extLst>
          </p:cNvPr>
          <p:cNvSpPr>
            <a:spLocks xmlns:a="http://schemas.openxmlformats.org/drawingml/2006/main" noGrp="1"/>
          </p:cNvSpPr>
          <p:nvPr/>
        </p:nvSpPr>
        <p:spPr>
          <a:xfrm xmlns:a="http://schemas.openxmlformats.org/drawingml/2006/main">
            <a:off x="6057900" y="2247900"/>
            <a:ext cx="4762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FFFFFF"/>
                </a:solidFill>
                <a:latin typeface="Aptos"/>
                <a:ea typeface="Aptos"/>
                <a:cs typeface="Aptos"/>
              </a:defRPr>
            </a:pPr>
            <a:r>
              <a:rPr sz="1875" b="0">
                <a:solidFill>
                  <a:srgbClr val="FFFFFF"/>
                </a:solidFill>
                <a:latin typeface="Aptos"/>
                <a:ea typeface="Aptos"/>
                <a:cs typeface="Aptos"/>
              </a:rPr>
              <a:t>what the evidence means</a:t>
            </a:r>
          </a:p>
          <a:p xmlns:a="http://schemas.openxmlformats.org/drawingml/2006/main">
            <a:pPr algn="l">
              <a:defRPr sz="1875" b="0">
                <a:solidFill>
                  <a:srgbClr val="FFFFFF"/>
                </a:solidFill>
                <a:latin typeface="Aptos"/>
                <a:ea typeface="Aptos"/>
                <a:cs typeface="Aptos"/>
              </a:defRPr>
            </a:pPr>
            <a:r>
              <a:rPr sz="1875" b="0">
                <a:solidFill>
                  <a:srgbClr val="FFFFFF"/>
                </a:solidFill>
                <a:latin typeface="Aptos"/>
                <a:ea typeface="Aptos"/>
                <a:cs typeface="Aptos"/>
              </a:rPr>
              <a:t>what needs correction</a:t>
            </a:r>
          </a:p>
          <a:p xmlns:a="http://schemas.openxmlformats.org/drawingml/2006/main">
            <a:pPr algn="l">
              <a:defRPr sz="1875" b="0">
                <a:solidFill>
                  <a:srgbClr val="FFFFFF"/>
                </a:solidFill>
                <a:latin typeface="Aptos"/>
                <a:ea typeface="Aptos"/>
                <a:cs typeface="Aptos"/>
              </a:defRPr>
            </a:pPr>
            <a:r>
              <a:rPr sz="1875" b="0">
                <a:solidFill>
                  <a:srgbClr val="FFFFFF"/>
                </a:solidFill>
                <a:latin typeface="Aptos"/>
                <a:ea typeface="Aptos"/>
                <a:cs typeface="Aptos"/>
              </a:rPr>
              <a:t>the final mark</a:t>
            </a:r>
          </a:p>
          <a:p xmlns:a="http://schemas.openxmlformats.org/drawingml/2006/main">
            <a:pPr algn="l">
              <a:defRPr sz="1875" b="0">
                <a:solidFill>
                  <a:srgbClr val="FFFFFF"/>
                </a:solidFill>
                <a:latin typeface="Aptos"/>
                <a:ea typeface="Aptos"/>
                <a:cs typeface="Aptos"/>
              </a:defRPr>
            </a:pPr>
            <a:r>
              <a:rPr sz="1875" b="0">
                <a:solidFill>
                  <a:srgbClr val="FFFFFF"/>
                </a:solidFill>
                <a:latin typeface="Aptos"/>
                <a:ea typeface="Aptos"/>
                <a:cs typeface="Aptos"/>
              </a:rPr>
              <a:t>the feedback that is saved</a:t>
            </a:r>
          </a:p>
        </p:txBody>
      </p:sp>
      <p:sp>
        <p:nvSpPr>
          <p:cNvPr id="7" name="">
            <a:extLst xmlns:a="http://schemas.openxmlformats.org/drawingml/2006/main">
              <a:ext uri="{FF2B5EF4-FFF2-40B4-BE49-F238E27FC236}">
                <a16:creationId xmlns:a16="http://schemas.microsoft.com/office/drawing/2014/main" id="{AA2501D3-EDA7-4553-9C37-DC95278A6D5B}"/>
              </a:ext>
            </a:extLst>
          </p:cNvPr>
          <p:cNvSpPr>
            <a:spLocks xmlns:a="http://schemas.openxmlformats.org/drawingml/2006/main" noGrp="1"/>
          </p:cNvSpPr>
          <p:nvPr/>
        </p:nvSpPr>
        <p:spPr>
          <a:xfrm xmlns:a="http://schemas.openxmlformats.org/drawingml/2006/main">
            <a:off x="1676400" y="5381625"/>
            <a:ext cx="8839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75" b="1">
                <a:solidFill>
                  <a:srgbClr val="FFFFFF"/>
                </a:solidFill>
                <a:latin typeface="Aptos"/>
                <a:ea typeface="Aptos"/>
                <a:cs typeface="Aptos"/>
              </a:defRPr>
            </a:pPr>
            <a:r>
              <a:rPr sz="2175" b="1">
                <a:solidFill>
                  <a:srgbClr val="FFFFFF"/>
                </a:solidFill>
                <a:latin typeface="Aptos"/>
                <a:ea typeface="Aptos"/>
                <a:cs typeface="Aptos"/>
              </a:rPr>
              <a:t>The saved human decision is authoritative</a:t>
            </a:r>
          </a:p>
        </p:txBody>
      </p:sp>
      <p:sp>
        <p:nvSpPr>
          <p:cNvPr id="8" name="">
            <a:extLst xmlns:a="http://schemas.openxmlformats.org/drawingml/2006/main">
              <a:ext uri="{FF2B5EF4-FFF2-40B4-BE49-F238E27FC236}">
                <a16:creationId xmlns:a16="http://schemas.microsoft.com/office/drawing/2014/main" id="{E7420E36-1EDE-40C2-9A47-FE187EFB81C4}"/>
              </a:ext>
            </a:extLst>
          </p:cNvPr>
          <p:cNvSpPr>
            <a:spLocks xmlns:a="http://schemas.openxmlformats.org/drawingml/2006/main" noGrp="1"/>
          </p:cNvSpPr>
          <p:nvPr/>
        </p:nvSpPr>
        <p:spPr>
          <a:xfrm xmlns:a="http://schemas.openxmlformats.org/drawingml/2006/main">
            <a:off x="647700" y="64770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lgn="l">
              <a:defRPr sz="750" b="0">
                <a:solidFill>
                  <a:srgbClr val="5C676F"/>
                </a:solidFill>
                <a:latin typeface="Aptos"/>
                <a:ea typeface="Aptos"/>
                <a:cs typeface="Aptos"/>
              </a:defRPr>
            </a:pPr>
            <a:r>
              <a:rPr sz="750" b="0">
                <a:solidFill>
                  <a:srgbClr val="5C676F"/>
                </a:solidFill>
                <a:latin typeface="Aptos"/>
                <a:ea typeface="Aptos"/>
                <a:cs typeface="Aptos"/>
              </a:rPr>
              <a:t>Ethical AI for field guide education</a:t>
            </a:r>
          </a:p>
        </p:txBody>
      </p:sp>
      <p:sp>
        <p:nvSpPr>
          <p:cNvPr id="9" name="">
            <a:extLst xmlns:a="http://schemas.openxmlformats.org/drawingml/2006/main">
              <a:ext uri="{FF2B5EF4-FFF2-40B4-BE49-F238E27FC236}">
                <a16:creationId xmlns:a16="http://schemas.microsoft.com/office/drawing/2014/main" id="{884745C3-DC97-4E03-9B77-9AC5E56C6EB5}"/>
              </a:ext>
            </a:extLst>
          </p:cNvPr>
          <p:cNvSpPr>
            <a:spLocks xmlns:a="http://schemas.openxmlformats.org/drawingml/2006/main" noGrp="1"/>
          </p:cNvSpPr>
          <p:nvPr/>
        </p:nvSpPr>
        <p:spPr>
          <a:xfrm xmlns:a="http://schemas.openxmlformats.org/drawingml/2006/main">
            <a:off x="11049000" y="6477000"/>
            <a:ext cx="495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lgn="r">
              <a:defRPr sz="750" b="0">
                <a:solidFill>
                  <a:srgbClr val="5C676F"/>
                </a:solidFill>
                <a:latin typeface="Aptos"/>
                <a:ea typeface="Aptos"/>
                <a:cs typeface="Aptos"/>
              </a:defRPr>
            </a:pPr>
            <a:r>
              <a:rPr sz="750" b="0">
                <a:solidFill>
                  <a:srgbClr val="5C676F"/>
                </a:solidFill>
                <a:latin typeface="Aptos"/>
                <a:ea typeface="Aptos"/>
                <a:cs typeface="Aptos"/>
              </a:rPr>
              <a:t>03</a:t>
            </a:r>
          </a:p>
        </p:txBody>
      </p:sp>
    </p:spTree>
    <p:extLst>
      <p:ext uri="{BB962C8B-B14F-4D97-AF65-F5344CB8AC3E}">
        <p14:creationId xmlns:p14="http://schemas.microsoft.com/office/powerpoint/2010/main" val="20289164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53F8EDB-E61F-402C-9D32-DC567986BA59}"/>
              </a:ext>
            </a:extLst>
          </p:cNvPr>
          <p:cNvSpPr>
            <a:spLocks xmlns:a="http://schemas.openxmlformats.org/drawingml/2006/main" noGrp="1"/>
          </p:cNvSpPr>
          <p:nvPr/>
        </p:nvSpPr>
        <p:spPr>
          <a:xfrm xmlns:a="http://schemas.openxmlformats.org/drawingml/2006/main">
            <a:off x="647700" y="400050"/>
            <a:ext cx="609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3B6641"/>
                </a:solidFill>
                <a:latin typeface="Aptos"/>
                <a:ea typeface="Aptos"/>
                <a:cs typeface="Aptos"/>
              </a:defRPr>
            </a:pPr>
            <a:r>
              <a:rPr sz="975" b="1">
                <a:solidFill>
                  <a:srgbClr val="3B6641"/>
                </a:solidFill>
                <a:latin typeface="Aptos"/>
                <a:ea typeface="Aptos"/>
                <a:cs typeface="Aptos"/>
              </a:rPr>
              <a:t>HOW IT WORKS</a:t>
            </a:r>
          </a:p>
        </p:txBody>
      </p:sp>
      <p:sp>
        <p:nvSpPr>
          <p:cNvPr id="2" name="">
            <a:extLst xmlns:a="http://schemas.openxmlformats.org/drawingml/2006/main">
              <a:ext uri="{FF2B5EF4-FFF2-40B4-BE49-F238E27FC236}">
                <a16:creationId xmlns:a16="http://schemas.microsoft.com/office/drawing/2014/main" id="{351BFAD0-A044-4412-9BC0-AC5DF845C931}"/>
              </a:ext>
            </a:extLst>
          </p:cNvPr>
          <p:cNvSpPr>
            <a:spLocks xmlns:a="http://schemas.openxmlformats.org/drawingml/2006/main" noGrp="1"/>
          </p:cNvSpPr>
          <p:nvPr/>
        </p:nvSpPr>
        <p:spPr>
          <a:xfrm xmlns:a="http://schemas.openxmlformats.org/drawingml/2006/main">
            <a:off x="647700" y="6667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B3F"/>
                </a:solidFill>
                <a:latin typeface="Aptos Display"/>
                <a:ea typeface="Aptos Display"/>
                <a:cs typeface="Aptos Display"/>
              </a:defRPr>
            </a:pPr>
            <a:r>
              <a:rPr sz="2550" b="1">
                <a:solidFill>
                  <a:srgbClr val="102B3F"/>
                </a:solidFill>
                <a:latin typeface="Aptos Display"/>
                <a:ea typeface="Aptos Display"/>
                <a:cs typeface="Aptos Display"/>
              </a:rPr>
              <a:t>A reviewable assessment workflow</a:t>
            </a:r>
          </a:p>
        </p:txBody>
      </p:sp>
      <p:sp>
        <p:nvSpPr>
          <p:cNvPr id="3" name="">
            <a:extLst xmlns:a="http://schemas.openxmlformats.org/drawingml/2006/main">
              <a:ext uri="{FF2B5EF4-FFF2-40B4-BE49-F238E27FC236}">
                <a16:creationId xmlns:a16="http://schemas.microsoft.com/office/drawing/2014/main" id="{86C90AF1-BC0F-4013-AFCB-F115ADA348B0}"/>
              </a:ext>
            </a:extLst>
          </p:cNvPr>
          <p:cNvSpPr>
            <a:spLocks xmlns:a="http://schemas.openxmlformats.org/drawingml/2006/main" noGrp="1"/>
          </p:cNvSpPr>
          <p:nvPr/>
        </p:nvSpPr>
        <p:spPr>
          <a:xfrm xmlns:a="http://schemas.openxmlformats.org/drawingml/2006/main">
            <a:off x="647700" y="1257300"/>
            <a:ext cx="742950" cy="47625"/>
          </a:xfrm>
          <a:prstGeom xmlns:a="http://schemas.openxmlformats.org/drawingml/2006/main" prst="rect">
            <a:avLst/>
          </a:prstGeom>
          <a:solidFill xmlns:a="http://schemas.openxmlformats.org/drawingml/2006/main">
            <a:srgbClr val="9BB35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6AFB5E2-F9FD-40AF-9EF8-E6E365D2053A}"/>
              </a:ext>
            </a:extLst>
          </p:cNvPr>
          <p:cNvSpPr>
            <a:spLocks xmlns:a="http://schemas.openxmlformats.org/drawingml/2006/main" noGrp="1"/>
          </p:cNvSpPr>
          <p:nvPr/>
        </p:nvSpPr>
        <p:spPr>
          <a:xfrm xmlns:a="http://schemas.openxmlformats.org/drawingml/2006/main">
            <a:off x="1228725" y="1733550"/>
            <a:ext cx="609600" cy="609600"/>
          </a:xfrm>
          <a:prstGeom xmlns:a="http://schemas.openxmlformats.org/drawingml/2006/main" prst="roundRect">
            <a:avLst>
              <a:gd name="adj" fmla="val 50000"/>
            </a:avLst>
          </a:prstGeom>
          <a:solidFill xmlns:a="http://schemas.openxmlformats.org/drawingml/2006/main">
            <a:srgbClr val="176B9B"/>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D9AC979-FD2C-4B16-A46B-3AA85A1EF131}"/>
              </a:ext>
            </a:extLst>
          </p:cNvPr>
          <p:cNvSpPr>
            <a:spLocks xmlns:a="http://schemas.openxmlformats.org/drawingml/2006/main" noGrp="1"/>
          </p:cNvSpPr>
          <p:nvPr/>
        </p:nvSpPr>
        <p:spPr>
          <a:xfrm xmlns:a="http://schemas.openxmlformats.org/drawingml/2006/main">
            <a:off x="1228725" y="17335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FFFFFF"/>
                </a:solidFill>
                <a:latin typeface="Aptos"/>
                <a:ea typeface="Aptos"/>
                <a:cs typeface="Aptos"/>
              </a:defRPr>
            </a:pPr>
            <a:r>
              <a:rPr sz="2025" b="1">
                <a:solidFill>
                  <a:srgbClr val="FFFFFF"/>
                </a:solidFill>
                <a:latin typeface="Aptos"/>
                <a:ea typeface="Aptos"/>
                <a:cs typeface="Aptos"/>
              </a:rPr>
              <a:t>1</a:t>
            </a:r>
          </a:p>
        </p:txBody>
      </p:sp>
      <p:sp>
        <p:nvSpPr>
          <p:cNvPr id="6" name="">
            <a:extLst xmlns:a="http://schemas.openxmlformats.org/drawingml/2006/main">
              <a:ext uri="{FF2B5EF4-FFF2-40B4-BE49-F238E27FC236}">
                <a16:creationId xmlns:a16="http://schemas.microsoft.com/office/drawing/2014/main" id="{334A8C4F-C0E7-48F6-8958-E29595BDD277}"/>
              </a:ext>
            </a:extLst>
          </p:cNvPr>
          <p:cNvSpPr>
            <a:spLocks xmlns:a="http://schemas.openxmlformats.org/drawingml/2006/main" noGrp="1"/>
          </p:cNvSpPr>
          <p:nvPr/>
        </p:nvSpPr>
        <p:spPr>
          <a:xfrm xmlns:a="http://schemas.openxmlformats.org/drawingml/2006/main">
            <a:off x="523875" y="2628900"/>
            <a:ext cx="2019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02B3F"/>
                </a:solidFill>
                <a:latin typeface="Aptos"/>
                <a:ea typeface="Aptos"/>
                <a:cs typeface="Aptos"/>
              </a:defRPr>
            </a:pPr>
            <a:r>
              <a:rPr sz="1575" b="1">
                <a:solidFill>
                  <a:srgbClr val="102B3F"/>
                </a:solidFill>
                <a:latin typeface="Aptos"/>
                <a:ea typeface="Aptos"/>
                <a:cs typeface="Aptos"/>
              </a:rPr>
              <a:t>Student work</a:t>
            </a:r>
          </a:p>
        </p:txBody>
      </p:sp>
      <p:sp>
        <p:nvSpPr>
          <p:cNvPr id="7" name="">
            <a:extLst xmlns:a="http://schemas.openxmlformats.org/drawingml/2006/main">
              <a:ext uri="{FF2B5EF4-FFF2-40B4-BE49-F238E27FC236}">
                <a16:creationId xmlns:a16="http://schemas.microsoft.com/office/drawing/2014/main" id="{18D2434D-8E68-4AF8-B725-8DF5353045D2}"/>
              </a:ext>
            </a:extLst>
          </p:cNvPr>
          <p:cNvSpPr>
            <a:spLocks xmlns:a="http://schemas.openxmlformats.org/drawingml/2006/main" noGrp="1"/>
          </p:cNvSpPr>
          <p:nvPr/>
        </p:nvSpPr>
        <p:spPr>
          <a:xfrm xmlns:a="http://schemas.openxmlformats.org/drawingml/2006/main">
            <a:off x="581025" y="3105150"/>
            <a:ext cx="1905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75" b="0">
                <a:solidFill>
                  <a:srgbClr val="5C676F"/>
                </a:solidFill>
                <a:latin typeface="Aptos"/>
                <a:ea typeface="Aptos"/>
                <a:cs typeface="Aptos"/>
              </a:defRPr>
            </a:pPr>
            <a:r>
              <a:rPr sz="1275" b="0">
                <a:solidFill>
                  <a:srgbClr val="5C676F"/>
                </a:solidFill>
                <a:latin typeface="Aptos"/>
                <a:ea typeface="Aptos"/>
                <a:cs typeface="Aptos"/>
              </a:rPr>
              <a:t>Essay, worksheet or written field reflection</a:t>
            </a:r>
          </a:p>
        </p:txBody>
      </p:sp>
      <p:sp>
        <p:nvSpPr>
          <p:cNvPr id="8" name="">
            <a:extLst xmlns:a="http://schemas.openxmlformats.org/drawingml/2006/main">
              <a:ext uri="{FF2B5EF4-FFF2-40B4-BE49-F238E27FC236}">
                <a16:creationId xmlns:a16="http://schemas.microsoft.com/office/drawing/2014/main" id="{0AC80FD6-AB4D-4B4D-94E5-7941A9B3B1E4}"/>
              </a:ext>
            </a:extLst>
          </p:cNvPr>
          <p:cNvSpPr>
            <a:spLocks xmlns:a="http://schemas.openxmlformats.org/drawingml/2006/main" noGrp="1"/>
          </p:cNvSpPr>
          <p:nvPr/>
        </p:nvSpPr>
        <p:spPr>
          <a:xfrm xmlns:a="http://schemas.openxmlformats.org/drawingml/2006/main">
            <a:off x="2495550" y="2009775"/>
            <a:ext cx="361950" cy="38100"/>
          </a:xfrm>
          <a:prstGeom xmlns:a="http://schemas.openxmlformats.org/drawingml/2006/main" prst="rect">
            <a:avLst/>
          </a:prstGeom>
          <a:solidFill xmlns:a="http://schemas.openxmlformats.org/drawingml/2006/main">
            <a:srgbClr val="9BB35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496B52D-A808-4AFD-BEDF-9EF6FB3EE44B}"/>
              </a:ext>
            </a:extLst>
          </p:cNvPr>
          <p:cNvSpPr>
            <a:spLocks xmlns:a="http://schemas.openxmlformats.org/drawingml/2006/main" noGrp="1"/>
          </p:cNvSpPr>
          <p:nvPr/>
        </p:nvSpPr>
        <p:spPr>
          <a:xfrm xmlns:a="http://schemas.openxmlformats.org/drawingml/2006/main">
            <a:off x="3552825" y="1733550"/>
            <a:ext cx="609600" cy="609600"/>
          </a:xfrm>
          <a:prstGeom xmlns:a="http://schemas.openxmlformats.org/drawingml/2006/main" prst="roundRect">
            <a:avLst>
              <a:gd name="adj" fmla="val 50000"/>
            </a:avLst>
          </a:prstGeom>
          <a:solidFill xmlns:a="http://schemas.openxmlformats.org/drawingml/2006/main">
            <a:srgbClr val="176B9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68F6B77-BE69-433C-95AA-A9033A418355}"/>
              </a:ext>
            </a:extLst>
          </p:cNvPr>
          <p:cNvSpPr>
            <a:spLocks xmlns:a="http://schemas.openxmlformats.org/drawingml/2006/main" noGrp="1"/>
          </p:cNvSpPr>
          <p:nvPr/>
        </p:nvSpPr>
        <p:spPr>
          <a:xfrm xmlns:a="http://schemas.openxmlformats.org/drawingml/2006/main">
            <a:off x="3552825" y="17335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FFFFFF"/>
                </a:solidFill>
                <a:latin typeface="Aptos"/>
                <a:ea typeface="Aptos"/>
                <a:cs typeface="Aptos"/>
              </a:defRPr>
            </a:pPr>
            <a:r>
              <a:rPr sz="2025" b="1">
                <a:solidFill>
                  <a:srgbClr val="FFFFFF"/>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390FB76F-2153-4A73-A3BE-7EE206EDB71F}"/>
              </a:ext>
            </a:extLst>
          </p:cNvPr>
          <p:cNvSpPr>
            <a:spLocks xmlns:a="http://schemas.openxmlformats.org/drawingml/2006/main" noGrp="1"/>
          </p:cNvSpPr>
          <p:nvPr/>
        </p:nvSpPr>
        <p:spPr>
          <a:xfrm xmlns:a="http://schemas.openxmlformats.org/drawingml/2006/main">
            <a:off x="2847975" y="2628900"/>
            <a:ext cx="2019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02B3F"/>
                </a:solidFill>
                <a:latin typeface="Aptos"/>
                <a:ea typeface="Aptos"/>
                <a:cs typeface="Aptos"/>
              </a:defRPr>
            </a:pPr>
            <a:r>
              <a:rPr sz="1575" b="1">
                <a:solidFill>
                  <a:srgbClr val="102B3F"/>
                </a:solidFill>
                <a:latin typeface="Aptos"/>
                <a:ea typeface="Aptos"/>
                <a:cs typeface="Aptos"/>
              </a:rPr>
              <a:t>Evidence and rubric</a:t>
            </a:r>
          </a:p>
        </p:txBody>
      </p:sp>
      <p:sp>
        <p:nvSpPr>
          <p:cNvPr id="12" name="">
            <a:extLst xmlns:a="http://schemas.openxmlformats.org/drawingml/2006/main">
              <a:ext uri="{FF2B5EF4-FFF2-40B4-BE49-F238E27FC236}">
                <a16:creationId xmlns:a16="http://schemas.microsoft.com/office/drawing/2014/main" id="{08A764FA-0EFA-41CA-9331-C46A8841683C}"/>
              </a:ext>
            </a:extLst>
          </p:cNvPr>
          <p:cNvSpPr>
            <a:spLocks xmlns:a="http://schemas.openxmlformats.org/drawingml/2006/main" noGrp="1"/>
          </p:cNvSpPr>
          <p:nvPr/>
        </p:nvSpPr>
        <p:spPr>
          <a:xfrm xmlns:a="http://schemas.openxmlformats.org/drawingml/2006/main">
            <a:off x="2905125" y="3105150"/>
            <a:ext cx="1905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75" b="0">
                <a:solidFill>
                  <a:srgbClr val="5C676F"/>
                </a:solidFill>
                <a:latin typeface="Aptos"/>
                <a:ea typeface="Aptos"/>
                <a:cs typeface="Aptos"/>
              </a:defRPr>
            </a:pPr>
            <a:r>
              <a:rPr sz="1275" b="0">
                <a:solidFill>
                  <a:srgbClr val="5C676F"/>
                </a:solidFill>
                <a:latin typeface="Aptos"/>
                <a:ea typeface="Aptos"/>
                <a:cs typeface="Aptos"/>
              </a:rPr>
              <a:t>The task, response and relevant criteria</a:t>
            </a:r>
          </a:p>
        </p:txBody>
      </p:sp>
      <p:sp>
        <p:nvSpPr>
          <p:cNvPr id="13" name="">
            <a:extLst xmlns:a="http://schemas.openxmlformats.org/drawingml/2006/main">
              <a:ext uri="{FF2B5EF4-FFF2-40B4-BE49-F238E27FC236}">
                <a16:creationId xmlns:a16="http://schemas.microsoft.com/office/drawing/2014/main" id="{805E34A4-9BD5-4BCF-A5F6-9935A62BF140}"/>
              </a:ext>
            </a:extLst>
          </p:cNvPr>
          <p:cNvSpPr>
            <a:spLocks xmlns:a="http://schemas.openxmlformats.org/drawingml/2006/main" noGrp="1"/>
          </p:cNvSpPr>
          <p:nvPr/>
        </p:nvSpPr>
        <p:spPr>
          <a:xfrm xmlns:a="http://schemas.openxmlformats.org/drawingml/2006/main">
            <a:off x="4819650" y="2009775"/>
            <a:ext cx="361950" cy="38100"/>
          </a:xfrm>
          <a:prstGeom xmlns:a="http://schemas.openxmlformats.org/drawingml/2006/main" prst="rect">
            <a:avLst/>
          </a:prstGeom>
          <a:solidFill xmlns:a="http://schemas.openxmlformats.org/drawingml/2006/main">
            <a:srgbClr val="9BB35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0A72372-B815-47C0-A809-11A230611CAC}"/>
              </a:ext>
            </a:extLst>
          </p:cNvPr>
          <p:cNvSpPr>
            <a:spLocks xmlns:a="http://schemas.openxmlformats.org/drawingml/2006/main" noGrp="1"/>
          </p:cNvSpPr>
          <p:nvPr/>
        </p:nvSpPr>
        <p:spPr>
          <a:xfrm xmlns:a="http://schemas.openxmlformats.org/drawingml/2006/main">
            <a:off x="5876925" y="1733550"/>
            <a:ext cx="609600" cy="609600"/>
          </a:xfrm>
          <a:prstGeom xmlns:a="http://schemas.openxmlformats.org/drawingml/2006/main" prst="roundRect">
            <a:avLst>
              <a:gd name="adj" fmla="val 50000"/>
            </a:avLst>
          </a:prstGeom>
          <a:solidFill xmlns:a="http://schemas.openxmlformats.org/drawingml/2006/main">
            <a:srgbClr val="176B9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11E7AE6-D5A5-47E6-8586-0DF81E6E59FC}"/>
              </a:ext>
            </a:extLst>
          </p:cNvPr>
          <p:cNvSpPr>
            <a:spLocks xmlns:a="http://schemas.openxmlformats.org/drawingml/2006/main" noGrp="1"/>
          </p:cNvSpPr>
          <p:nvPr/>
        </p:nvSpPr>
        <p:spPr>
          <a:xfrm xmlns:a="http://schemas.openxmlformats.org/drawingml/2006/main">
            <a:off x="5876925" y="17335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FFFFFF"/>
                </a:solidFill>
                <a:latin typeface="Aptos"/>
                <a:ea typeface="Aptos"/>
                <a:cs typeface="Aptos"/>
              </a:defRPr>
            </a:pPr>
            <a:r>
              <a:rPr sz="2025" b="1">
                <a:solidFill>
                  <a:srgbClr val="FFFFFF"/>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7B37518F-1164-4AEF-94FC-51479248846D}"/>
              </a:ext>
            </a:extLst>
          </p:cNvPr>
          <p:cNvSpPr>
            <a:spLocks xmlns:a="http://schemas.openxmlformats.org/drawingml/2006/main" noGrp="1"/>
          </p:cNvSpPr>
          <p:nvPr/>
        </p:nvSpPr>
        <p:spPr>
          <a:xfrm xmlns:a="http://schemas.openxmlformats.org/drawingml/2006/main">
            <a:off x="5172075" y="2628900"/>
            <a:ext cx="2019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02B3F"/>
                </a:solidFill>
                <a:latin typeface="Aptos"/>
                <a:ea typeface="Aptos"/>
                <a:cs typeface="Aptos"/>
              </a:defRPr>
            </a:pPr>
            <a:r>
              <a:rPr sz="1575" b="1">
                <a:solidFill>
                  <a:srgbClr val="102B3F"/>
                </a:solidFill>
                <a:latin typeface="Aptos"/>
                <a:ea typeface="Aptos"/>
                <a:cs typeface="Aptos"/>
              </a:rPr>
              <a:t>AI suggestion</a:t>
            </a:r>
          </a:p>
        </p:txBody>
      </p:sp>
      <p:sp>
        <p:nvSpPr>
          <p:cNvPr id="17" name="">
            <a:extLst xmlns:a="http://schemas.openxmlformats.org/drawingml/2006/main">
              <a:ext uri="{FF2B5EF4-FFF2-40B4-BE49-F238E27FC236}">
                <a16:creationId xmlns:a16="http://schemas.microsoft.com/office/drawing/2014/main" id="{8E111556-F87C-4103-902F-B08F224BF7A9}"/>
              </a:ext>
            </a:extLst>
          </p:cNvPr>
          <p:cNvSpPr>
            <a:spLocks xmlns:a="http://schemas.openxmlformats.org/drawingml/2006/main" noGrp="1"/>
          </p:cNvSpPr>
          <p:nvPr/>
        </p:nvSpPr>
        <p:spPr>
          <a:xfrm xmlns:a="http://schemas.openxmlformats.org/drawingml/2006/main">
            <a:off x="5229225" y="3105150"/>
            <a:ext cx="1905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75" b="0">
                <a:solidFill>
                  <a:srgbClr val="5C676F"/>
                </a:solidFill>
                <a:latin typeface="Aptos"/>
                <a:ea typeface="Aptos"/>
                <a:cs typeface="Aptos"/>
              </a:defRPr>
            </a:pPr>
            <a:r>
              <a:rPr sz="1275" b="0">
                <a:solidFill>
                  <a:srgbClr val="5C676F"/>
                </a:solidFill>
                <a:latin typeface="Aptos"/>
                <a:ea typeface="Aptos"/>
                <a:cs typeface="Aptos"/>
              </a:rPr>
              <a:t>A draft mark, feedback and points for attention</a:t>
            </a:r>
          </a:p>
        </p:txBody>
      </p:sp>
      <p:sp>
        <p:nvSpPr>
          <p:cNvPr id="18" name="">
            <a:extLst xmlns:a="http://schemas.openxmlformats.org/drawingml/2006/main">
              <a:ext uri="{FF2B5EF4-FFF2-40B4-BE49-F238E27FC236}">
                <a16:creationId xmlns:a16="http://schemas.microsoft.com/office/drawing/2014/main" id="{BB132D02-C0FD-41CE-AD21-E59501CEFBAB}"/>
              </a:ext>
            </a:extLst>
          </p:cNvPr>
          <p:cNvSpPr>
            <a:spLocks xmlns:a="http://schemas.openxmlformats.org/drawingml/2006/main" noGrp="1"/>
          </p:cNvSpPr>
          <p:nvPr/>
        </p:nvSpPr>
        <p:spPr>
          <a:xfrm xmlns:a="http://schemas.openxmlformats.org/drawingml/2006/main">
            <a:off x="7143750" y="2009775"/>
            <a:ext cx="361950" cy="38100"/>
          </a:xfrm>
          <a:prstGeom xmlns:a="http://schemas.openxmlformats.org/drawingml/2006/main" prst="rect">
            <a:avLst/>
          </a:prstGeom>
          <a:solidFill xmlns:a="http://schemas.openxmlformats.org/drawingml/2006/main">
            <a:srgbClr val="9BB35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31870C4-0B19-4E26-9CE0-8918736478A2}"/>
              </a:ext>
            </a:extLst>
          </p:cNvPr>
          <p:cNvSpPr>
            <a:spLocks xmlns:a="http://schemas.openxmlformats.org/drawingml/2006/main" noGrp="1"/>
          </p:cNvSpPr>
          <p:nvPr/>
        </p:nvSpPr>
        <p:spPr>
          <a:xfrm xmlns:a="http://schemas.openxmlformats.org/drawingml/2006/main">
            <a:off x="8201025" y="1733550"/>
            <a:ext cx="609600" cy="609600"/>
          </a:xfrm>
          <a:prstGeom xmlns:a="http://schemas.openxmlformats.org/drawingml/2006/main" prst="roundRect">
            <a:avLst>
              <a:gd name="adj" fmla="val 50000"/>
            </a:avLst>
          </a:prstGeom>
          <a:solidFill xmlns:a="http://schemas.openxmlformats.org/drawingml/2006/main">
            <a:srgbClr val="176B9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4BED492-503B-447E-87FD-D965412112B3}"/>
              </a:ext>
            </a:extLst>
          </p:cNvPr>
          <p:cNvSpPr>
            <a:spLocks xmlns:a="http://schemas.openxmlformats.org/drawingml/2006/main" noGrp="1"/>
          </p:cNvSpPr>
          <p:nvPr/>
        </p:nvSpPr>
        <p:spPr>
          <a:xfrm xmlns:a="http://schemas.openxmlformats.org/drawingml/2006/main">
            <a:off x="8201025" y="17335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FFFFFF"/>
                </a:solidFill>
                <a:latin typeface="Aptos"/>
                <a:ea typeface="Aptos"/>
                <a:cs typeface="Aptos"/>
              </a:defRPr>
            </a:pPr>
            <a:r>
              <a:rPr sz="2025" b="1">
                <a:solidFill>
                  <a:srgbClr val="FFFFFF"/>
                </a:solidFill>
                <a:latin typeface="Aptos"/>
                <a:ea typeface="Aptos"/>
                <a:cs typeface="Aptos"/>
              </a:rPr>
              <a:t>4</a:t>
            </a:r>
          </a:p>
        </p:txBody>
      </p:sp>
      <p:sp>
        <p:nvSpPr>
          <p:cNvPr id="21" name="">
            <a:extLst xmlns:a="http://schemas.openxmlformats.org/drawingml/2006/main">
              <a:ext uri="{FF2B5EF4-FFF2-40B4-BE49-F238E27FC236}">
                <a16:creationId xmlns:a16="http://schemas.microsoft.com/office/drawing/2014/main" id="{3DB88E87-6962-4016-8245-AF388E4BA30E}"/>
              </a:ext>
            </a:extLst>
          </p:cNvPr>
          <p:cNvSpPr>
            <a:spLocks xmlns:a="http://schemas.openxmlformats.org/drawingml/2006/main" noGrp="1"/>
          </p:cNvSpPr>
          <p:nvPr/>
        </p:nvSpPr>
        <p:spPr>
          <a:xfrm xmlns:a="http://schemas.openxmlformats.org/drawingml/2006/main">
            <a:off x="7496175" y="2628900"/>
            <a:ext cx="2019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02B3F"/>
                </a:solidFill>
                <a:latin typeface="Aptos"/>
                <a:ea typeface="Aptos"/>
                <a:cs typeface="Aptos"/>
              </a:defRPr>
            </a:pPr>
            <a:r>
              <a:rPr sz="1575" b="1">
                <a:solidFill>
                  <a:srgbClr val="102B3F"/>
                </a:solidFill>
                <a:latin typeface="Aptos"/>
                <a:ea typeface="Aptos"/>
                <a:cs typeface="Aptos"/>
              </a:rPr>
              <a:t>Instructor review</a:t>
            </a:r>
          </a:p>
        </p:txBody>
      </p:sp>
      <p:sp>
        <p:nvSpPr>
          <p:cNvPr id="22" name="">
            <a:extLst xmlns:a="http://schemas.openxmlformats.org/drawingml/2006/main">
              <a:ext uri="{FF2B5EF4-FFF2-40B4-BE49-F238E27FC236}">
                <a16:creationId xmlns:a16="http://schemas.microsoft.com/office/drawing/2014/main" id="{A3219FA1-E011-4790-A533-D64EC0592850}"/>
              </a:ext>
            </a:extLst>
          </p:cNvPr>
          <p:cNvSpPr>
            <a:spLocks xmlns:a="http://schemas.openxmlformats.org/drawingml/2006/main" noGrp="1"/>
          </p:cNvSpPr>
          <p:nvPr/>
        </p:nvSpPr>
        <p:spPr>
          <a:xfrm xmlns:a="http://schemas.openxmlformats.org/drawingml/2006/main">
            <a:off x="7553325" y="3105150"/>
            <a:ext cx="1905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75" b="0">
                <a:solidFill>
                  <a:srgbClr val="5C676F"/>
                </a:solidFill>
                <a:latin typeface="Aptos"/>
                <a:ea typeface="Aptos"/>
                <a:cs typeface="Aptos"/>
              </a:defRPr>
            </a:pPr>
            <a:r>
              <a:rPr sz="1275" b="0">
                <a:solidFill>
                  <a:srgbClr val="5C676F"/>
                </a:solidFill>
                <a:latin typeface="Aptos"/>
                <a:ea typeface="Aptos"/>
                <a:cs typeface="Aptos"/>
              </a:rPr>
              <a:t>Check the evidence and change anything necessary</a:t>
            </a:r>
          </a:p>
        </p:txBody>
      </p:sp>
      <p:sp>
        <p:nvSpPr>
          <p:cNvPr id="23" name="">
            <a:extLst xmlns:a="http://schemas.openxmlformats.org/drawingml/2006/main">
              <a:ext uri="{FF2B5EF4-FFF2-40B4-BE49-F238E27FC236}">
                <a16:creationId xmlns:a16="http://schemas.microsoft.com/office/drawing/2014/main" id="{4072E8B8-AC49-47A2-BA3E-8D7DE25F20CC}"/>
              </a:ext>
            </a:extLst>
          </p:cNvPr>
          <p:cNvSpPr>
            <a:spLocks xmlns:a="http://schemas.openxmlformats.org/drawingml/2006/main" noGrp="1"/>
          </p:cNvSpPr>
          <p:nvPr/>
        </p:nvSpPr>
        <p:spPr>
          <a:xfrm xmlns:a="http://schemas.openxmlformats.org/drawingml/2006/main">
            <a:off x="9467850" y="2009775"/>
            <a:ext cx="361950" cy="38100"/>
          </a:xfrm>
          <a:prstGeom xmlns:a="http://schemas.openxmlformats.org/drawingml/2006/main" prst="rect">
            <a:avLst/>
          </a:prstGeom>
          <a:solidFill xmlns:a="http://schemas.openxmlformats.org/drawingml/2006/main">
            <a:srgbClr val="9BB35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D0C5D52-EAEC-45BB-931E-25E39E114D49}"/>
              </a:ext>
            </a:extLst>
          </p:cNvPr>
          <p:cNvSpPr>
            <a:spLocks xmlns:a="http://schemas.openxmlformats.org/drawingml/2006/main" noGrp="1"/>
          </p:cNvSpPr>
          <p:nvPr/>
        </p:nvSpPr>
        <p:spPr>
          <a:xfrm xmlns:a="http://schemas.openxmlformats.org/drawingml/2006/main">
            <a:off x="10525125" y="1733550"/>
            <a:ext cx="609600" cy="609600"/>
          </a:xfrm>
          <a:prstGeom xmlns:a="http://schemas.openxmlformats.org/drawingml/2006/main" prst="roundRect">
            <a:avLst>
              <a:gd name="adj" fmla="val 50000"/>
            </a:avLst>
          </a:prstGeom>
          <a:solidFill xmlns:a="http://schemas.openxmlformats.org/drawingml/2006/main">
            <a:srgbClr val="3B6641"/>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5E08E9E-6C99-4EA7-8984-E750DEB1F20F}"/>
              </a:ext>
            </a:extLst>
          </p:cNvPr>
          <p:cNvSpPr>
            <a:spLocks xmlns:a="http://schemas.openxmlformats.org/drawingml/2006/main" noGrp="1"/>
          </p:cNvSpPr>
          <p:nvPr/>
        </p:nvSpPr>
        <p:spPr>
          <a:xfrm xmlns:a="http://schemas.openxmlformats.org/drawingml/2006/main">
            <a:off x="10525125" y="17335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FFFFFF"/>
                </a:solidFill>
                <a:latin typeface="Aptos"/>
                <a:ea typeface="Aptos"/>
                <a:cs typeface="Aptos"/>
              </a:defRPr>
            </a:pPr>
            <a:r>
              <a:rPr sz="2025" b="1">
                <a:solidFill>
                  <a:srgbClr val="FFFFFF"/>
                </a:solidFill>
                <a:latin typeface="Aptos"/>
                <a:ea typeface="Aptos"/>
                <a:cs typeface="Aptos"/>
              </a:rPr>
              <a:t>5</a:t>
            </a:r>
          </a:p>
        </p:txBody>
      </p:sp>
      <p:sp>
        <p:nvSpPr>
          <p:cNvPr id="26" name="">
            <a:extLst xmlns:a="http://schemas.openxmlformats.org/drawingml/2006/main">
              <a:ext uri="{FF2B5EF4-FFF2-40B4-BE49-F238E27FC236}">
                <a16:creationId xmlns:a16="http://schemas.microsoft.com/office/drawing/2014/main" id="{12E81C87-EF3A-4E5B-A2A4-EDC4E9FBD95B}"/>
              </a:ext>
            </a:extLst>
          </p:cNvPr>
          <p:cNvSpPr>
            <a:spLocks xmlns:a="http://schemas.openxmlformats.org/drawingml/2006/main" noGrp="1"/>
          </p:cNvSpPr>
          <p:nvPr/>
        </p:nvSpPr>
        <p:spPr>
          <a:xfrm xmlns:a="http://schemas.openxmlformats.org/drawingml/2006/main">
            <a:off x="9820275" y="2628900"/>
            <a:ext cx="2019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102B3F"/>
                </a:solidFill>
                <a:latin typeface="Aptos"/>
                <a:ea typeface="Aptos"/>
                <a:cs typeface="Aptos"/>
              </a:defRPr>
            </a:pPr>
            <a:r>
              <a:rPr sz="1575" b="1">
                <a:solidFill>
                  <a:srgbClr val="102B3F"/>
                </a:solidFill>
                <a:latin typeface="Aptos"/>
                <a:ea typeface="Aptos"/>
                <a:cs typeface="Aptos"/>
              </a:rPr>
              <a:t>Saved decision</a:t>
            </a:r>
          </a:p>
        </p:txBody>
      </p:sp>
      <p:sp>
        <p:nvSpPr>
          <p:cNvPr id="27" name="">
            <a:extLst xmlns:a="http://schemas.openxmlformats.org/drawingml/2006/main">
              <a:ext uri="{FF2B5EF4-FFF2-40B4-BE49-F238E27FC236}">
                <a16:creationId xmlns:a16="http://schemas.microsoft.com/office/drawing/2014/main" id="{45ED1FA1-2399-435C-BD81-A7D4DDDE500C}"/>
              </a:ext>
            </a:extLst>
          </p:cNvPr>
          <p:cNvSpPr>
            <a:spLocks xmlns:a="http://schemas.openxmlformats.org/drawingml/2006/main" noGrp="1"/>
          </p:cNvSpPr>
          <p:nvPr/>
        </p:nvSpPr>
        <p:spPr>
          <a:xfrm xmlns:a="http://schemas.openxmlformats.org/drawingml/2006/main">
            <a:off x="9877425" y="3105150"/>
            <a:ext cx="1905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75" b="0">
                <a:solidFill>
                  <a:srgbClr val="5C676F"/>
                </a:solidFill>
                <a:latin typeface="Aptos"/>
                <a:ea typeface="Aptos"/>
                <a:cs typeface="Aptos"/>
              </a:defRPr>
            </a:pPr>
            <a:r>
              <a:rPr sz="1275" b="0">
                <a:solidFill>
                  <a:srgbClr val="5C676F"/>
                </a:solidFill>
                <a:latin typeface="Aptos"/>
                <a:ea typeface="Aptos"/>
                <a:cs typeface="Aptos"/>
              </a:rPr>
              <a:t>The confirmed mark and feedback enter the record</a:t>
            </a:r>
          </a:p>
        </p:txBody>
      </p:sp>
      <p:sp>
        <p:nvSpPr>
          <p:cNvPr id="28" name="">
            <a:extLst xmlns:a="http://schemas.openxmlformats.org/drawingml/2006/main">
              <a:ext uri="{FF2B5EF4-FFF2-40B4-BE49-F238E27FC236}">
                <a16:creationId xmlns:a16="http://schemas.microsoft.com/office/drawing/2014/main" id="{559F0A99-B1D7-4808-A23E-2AAFD2BE6EDC}"/>
              </a:ext>
            </a:extLst>
          </p:cNvPr>
          <p:cNvSpPr>
            <a:spLocks xmlns:a="http://schemas.openxmlformats.org/drawingml/2006/main" noGrp="1"/>
          </p:cNvSpPr>
          <p:nvPr/>
        </p:nvSpPr>
        <p:spPr>
          <a:xfrm xmlns:a="http://schemas.openxmlformats.org/drawingml/2006/main">
            <a:off x="762000" y="4838700"/>
            <a:ext cx="10668000" cy="838200"/>
          </a:xfrm>
          <a:prstGeom xmlns:a="http://schemas.openxmlformats.org/drawingml/2006/main" prst="roundRect">
            <a:avLst>
              <a:gd name="adj" fmla="val 18182"/>
            </a:avLst>
          </a:prstGeom>
          <a:solidFill xmlns:a="http://schemas.openxmlformats.org/drawingml/2006/main">
            <a:srgbClr val="E8EFE4"/>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BE3925C-6544-4227-92A9-48B0546ADF70}"/>
              </a:ext>
            </a:extLst>
          </p:cNvPr>
          <p:cNvSpPr>
            <a:spLocks xmlns:a="http://schemas.openxmlformats.org/drawingml/2006/main" noGrp="1"/>
          </p:cNvSpPr>
          <p:nvPr/>
        </p:nvSpPr>
        <p:spPr>
          <a:xfrm xmlns:a="http://schemas.openxmlformats.org/drawingml/2006/main">
            <a:off x="1066800" y="4991100"/>
            <a:ext cx="10058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defRPr sz="1500" b="0">
                <a:solidFill>
                  <a:srgbClr val="3B6641"/>
                </a:solidFill>
                <a:latin typeface="Aptos"/>
                <a:ea typeface="Aptos"/>
                <a:cs typeface="Aptos"/>
              </a:defRPr>
            </a:pPr>
            <a:r>
              <a:rPr sz="1500" b="0">
                <a:solidFill>
                  <a:srgbClr val="3B6641"/>
                </a:solidFill>
                <a:latin typeface="Aptos"/>
                <a:ea typeface="Aptos"/>
                <a:cs typeface="Aptos"/>
              </a:rPr>
              <a:t>The browser may close while Chisimba prepares the suggestion. The queued task continues, and the instructor returns to review it later.</a:t>
            </a:r>
          </a:p>
        </p:txBody>
      </p:sp>
      <p:sp>
        <p:nvSpPr>
          <p:cNvPr id="30" name="">
            <a:extLst xmlns:a="http://schemas.openxmlformats.org/drawingml/2006/main">
              <a:ext uri="{FF2B5EF4-FFF2-40B4-BE49-F238E27FC236}">
                <a16:creationId xmlns:a16="http://schemas.microsoft.com/office/drawing/2014/main" id="{24373628-DCA0-4AEE-B162-0B3C365860F7}"/>
              </a:ext>
            </a:extLst>
          </p:cNvPr>
          <p:cNvSpPr>
            <a:spLocks xmlns:a="http://schemas.openxmlformats.org/drawingml/2006/main" noGrp="1"/>
          </p:cNvSpPr>
          <p:nvPr/>
        </p:nvSpPr>
        <p:spPr>
          <a:xfrm xmlns:a="http://schemas.openxmlformats.org/drawingml/2006/main">
            <a:off x="647700" y="64770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lgn="l">
              <a:defRPr sz="750" b="0">
                <a:solidFill>
                  <a:srgbClr val="5C676F"/>
                </a:solidFill>
                <a:latin typeface="Aptos"/>
                <a:ea typeface="Aptos"/>
                <a:cs typeface="Aptos"/>
              </a:defRPr>
            </a:pPr>
            <a:r>
              <a:rPr sz="750" b="0">
                <a:solidFill>
                  <a:srgbClr val="5C676F"/>
                </a:solidFill>
                <a:latin typeface="Aptos"/>
                <a:ea typeface="Aptos"/>
                <a:cs typeface="Aptos"/>
              </a:rPr>
              <a:t>Ethical AI for field guide education</a:t>
            </a:r>
          </a:p>
        </p:txBody>
      </p:sp>
      <p:sp>
        <p:nvSpPr>
          <p:cNvPr id="31" name="">
            <a:extLst xmlns:a="http://schemas.openxmlformats.org/drawingml/2006/main">
              <a:ext uri="{FF2B5EF4-FFF2-40B4-BE49-F238E27FC236}">
                <a16:creationId xmlns:a16="http://schemas.microsoft.com/office/drawing/2014/main" id="{FF97030B-A66C-4AD7-B3CC-DF03C0FC94A9}"/>
              </a:ext>
            </a:extLst>
          </p:cNvPr>
          <p:cNvSpPr>
            <a:spLocks xmlns:a="http://schemas.openxmlformats.org/drawingml/2006/main" noGrp="1"/>
          </p:cNvSpPr>
          <p:nvPr/>
        </p:nvSpPr>
        <p:spPr>
          <a:xfrm xmlns:a="http://schemas.openxmlformats.org/drawingml/2006/main">
            <a:off x="11049000" y="6477000"/>
            <a:ext cx="495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lgn="r">
              <a:defRPr sz="750" b="0">
                <a:solidFill>
                  <a:srgbClr val="5C676F"/>
                </a:solidFill>
                <a:latin typeface="Aptos"/>
                <a:ea typeface="Aptos"/>
                <a:cs typeface="Aptos"/>
              </a:defRPr>
            </a:pPr>
            <a:r>
              <a:rPr sz="750" b="0">
                <a:solidFill>
                  <a:srgbClr val="5C676F"/>
                </a:solidFill>
                <a:latin typeface="Aptos"/>
                <a:ea typeface="Aptos"/>
                <a:cs typeface="Aptos"/>
              </a:rPr>
              <a:t>04</a:t>
            </a:r>
          </a:p>
        </p:txBody>
      </p:sp>
    </p:spTree>
    <p:extLst>
      <p:ext uri="{BB962C8B-B14F-4D97-AF65-F5344CB8AC3E}">
        <p14:creationId xmlns:p14="http://schemas.microsoft.com/office/powerpoint/2010/main" val="57822265"/>
      </p:ext>
    </p:extLst>
  </p:cSld>
</p:sld>
</file>

<file path=ppt/slides/slide5.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8ca896056ff419f"/>
          <a:srcRect xmlns:a="http://schemas.openxmlformats.org/drawingml/2006/main" l="21665" t="0" r="21665" b="0"/>
          <a:stretch xmlns:a="http://schemas.openxmlformats.org/drawingml/2006/main">
            <a:fillRect l="0" t="0" r="0" b="0"/>
          </a:stretch>
        </p:blipFill>
        <p:spPr>
          <a:xfrm xmlns:a="http://schemas.openxmlformats.org/drawingml/2006/main">
            <a:off x="0" y="0"/>
            <a:ext cx="690562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4A83F6A-817D-4AD5-9654-AB131DF00A6B}"/>
              </a:ext>
            </a:extLst>
          </p:cNvPr>
          <p:cNvSpPr>
            <a:spLocks xmlns:a="http://schemas.openxmlformats.org/drawingml/2006/main" noGrp="1"/>
          </p:cNvSpPr>
          <p:nvPr/>
        </p:nvSpPr>
        <p:spPr>
          <a:xfrm xmlns:a="http://schemas.openxmlformats.org/drawingml/2006/main">
            <a:off x="0" y="0"/>
            <a:ext cx="6905625" cy="6858000"/>
          </a:xfrm>
          <a:prstGeom xmlns:a="http://schemas.openxmlformats.org/drawingml/2006/main" prst="rect">
            <a:avLst/>
          </a:prstGeom>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696A757-7E95-4F1F-B8CA-28333E82F1FF}"/>
              </a:ext>
            </a:extLst>
          </p:cNvPr>
          <p:cNvSpPr>
            <a:spLocks xmlns:a="http://schemas.openxmlformats.org/drawingml/2006/main" noGrp="1"/>
          </p:cNvSpPr>
          <p:nvPr/>
        </p:nvSpPr>
        <p:spPr>
          <a:xfrm xmlns:a="http://schemas.openxmlformats.org/drawingml/2006/main">
            <a:off x="7239000" y="628650"/>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a:solidFill>
                  <a:srgbClr val="102B3F"/>
                </a:solidFill>
                <a:latin typeface="Aptos Display"/>
                <a:ea typeface="Aptos Display"/>
                <a:cs typeface="Aptos Display"/>
              </a:defRPr>
            </a:pPr>
            <a:r>
              <a:rPr sz="2550" b="1">
                <a:solidFill>
                  <a:srgbClr val="102B3F"/>
                </a:solidFill>
                <a:latin typeface="Aptos Display"/>
                <a:ea typeface="Aptos Display"/>
                <a:cs typeface="Aptos Display"/>
              </a:rPr>
              <a:t>Field evidence still needs a field instructor</a:t>
            </a:r>
          </a:p>
        </p:txBody>
      </p:sp>
      <p:sp>
        <p:nvSpPr>
          <p:cNvPr id="4" name="">
            <a:extLst xmlns:a="http://schemas.openxmlformats.org/drawingml/2006/main">
              <a:ext uri="{FF2B5EF4-FFF2-40B4-BE49-F238E27FC236}">
                <a16:creationId xmlns:a16="http://schemas.microsoft.com/office/drawing/2014/main" id="{3234E78C-00C4-4F55-B03C-F1965F8D45C2}"/>
              </a:ext>
            </a:extLst>
          </p:cNvPr>
          <p:cNvSpPr>
            <a:spLocks xmlns:a="http://schemas.openxmlformats.org/drawingml/2006/main" noGrp="1"/>
          </p:cNvSpPr>
          <p:nvPr/>
        </p:nvSpPr>
        <p:spPr>
          <a:xfrm xmlns:a="http://schemas.openxmlformats.org/drawingml/2006/main">
            <a:off x="7239000" y="203835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3B6641"/>
                </a:solidFill>
                <a:latin typeface="Aptos"/>
                <a:ea typeface="Aptos"/>
                <a:cs typeface="Aptos"/>
              </a:defRPr>
            </a:pPr>
            <a:r>
              <a:rPr sz="1575" b="1">
                <a:solidFill>
                  <a:srgbClr val="3B6641"/>
                </a:solidFill>
                <a:latin typeface="Aptos"/>
                <a:ea typeface="Aptos"/>
                <a:cs typeface="Aptos"/>
              </a:rPr>
              <a:t>AI can help with written evidence</a:t>
            </a:r>
          </a:p>
        </p:txBody>
      </p:sp>
      <p:sp>
        <p:nvSpPr>
          <p:cNvPr id="5" name="">
            <a:extLst xmlns:a="http://schemas.openxmlformats.org/drawingml/2006/main">
              <a:ext uri="{FF2B5EF4-FFF2-40B4-BE49-F238E27FC236}">
                <a16:creationId xmlns:a16="http://schemas.microsoft.com/office/drawing/2014/main" id="{CC0174FF-E1B6-4153-ACBE-93405E8340E1}"/>
              </a:ext>
            </a:extLst>
          </p:cNvPr>
          <p:cNvSpPr>
            <a:spLocks xmlns:a="http://schemas.openxmlformats.org/drawingml/2006/main" noGrp="1"/>
          </p:cNvSpPr>
          <p:nvPr/>
        </p:nvSpPr>
        <p:spPr>
          <a:xfrm xmlns:a="http://schemas.openxmlformats.org/drawingml/2006/main">
            <a:off x="7239000" y="2457450"/>
            <a:ext cx="4095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5C676F"/>
                </a:solidFill>
                <a:latin typeface="Aptos"/>
                <a:ea typeface="Aptos"/>
                <a:cs typeface="Aptos"/>
              </a:defRPr>
            </a:pPr>
            <a:r>
              <a:rPr sz="1425" b="0">
                <a:solidFill>
                  <a:srgbClr val="5C676F"/>
                </a:solidFill>
                <a:latin typeface="Aptos"/>
                <a:ea typeface="Aptos"/>
                <a:cs typeface="Aptos"/>
              </a:rPr>
              <a:t>Species accounts, trail reports, reflective notes and interpretation plans can be reviewed against a rubric.</a:t>
            </a:r>
          </a:p>
        </p:txBody>
      </p:sp>
      <p:sp>
        <p:nvSpPr>
          <p:cNvPr id="6" name="">
            <a:extLst xmlns:a="http://schemas.openxmlformats.org/drawingml/2006/main">
              <a:ext uri="{FF2B5EF4-FFF2-40B4-BE49-F238E27FC236}">
                <a16:creationId xmlns:a16="http://schemas.microsoft.com/office/drawing/2014/main" id="{9D971D0E-F402-45D6-9481-AC497A87099E}"/>
              </a:ext>
            </a:extLst>
          </p:cNvPr>
          <p:cNvSpPr>
            <a:spLocks xmlns:a="http://schemas.openxmlformats.org/drawingml/2006/main" noGrp="1"/>
          </p:cNvSpPr>
          <p:nvPr/>
        </p:nvSpPr>
        <p:spPr>
          <a:xfrm xmlns:a="http://schemas.openxmlformats.org/drawingml/2006/main">
            <a:off x="7239000" y="3886200"/>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64453B"/>
                </a:solidFill>
                <a:latin typeface="Aptos"/>
                <a:ea typeface="Aptos"/>
                <a:cs typeface="Aptos"/>
              </a:defRPr>
            </a:pPr>
            <a:r>
              <a:rPr sz="1575" b="1">
                <a:solidFill>
                  <a:srgbClr val="64453B"/>
                </a:solidFill>
                <a:latin typeface="Aptos"/>
                <a:ea typeface="Aptos"/>
                <a:cs typeface="Aptos"/>
              </a:rPr>
              <a:t>Direct observation remains human work</a:t>
            </a:r>
          </a:p>
        </p:txBody>
      </p:sp>
      <p:sp>
        <p:nvSpPr>
          <p:cNvPr id="7" name="">
            <a:extLst xmlns:a="http://schemas.openxmlformats.org/drawingml/2006/main">
              <a:ext uri="{FF2B5EF4-FFF2-40B4-BE49-F238E27FC236}">
                <a16:creationId xmlns:a16="http://schemas.microsoft.com/office/drawing/2014/main" id="{DC5B605A-E91D-4F05-B573-672EE1DA2351}"/>
              </a:ext>
            </a:extLst>
          </p:cNvPr>
          <p:cNvSpPr>
            <a:spLocks xmlns:a="http://schemas.openxmlformats.org/drawingml/2006/main" noGrp="1"/>
          </p:cNvSpPr>
          <p:nvPr/>
        </p:nvSpPr>
        <p:spPr>
          <a:xfrm xmlns:a="http://schemas.openxmlformats.org/drawingml/2006/main">
            <a:off x="7239000" y="4305300"/>
            <a:ext cx="4095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5C676F"/>
                </a:solidFill>
                <a:latin typeface="Aptos"/>
                <a:ea typeface="Aptos"/>
                <a:cs typeface="Aptos"/>
              </a:defRPr>
            </a:pPr>
            <a:r>
              <a:rPr sz="1425" b="0">
                <a:solidFill>
                  <a:srgbClr val="5C676F"/>
                </a:solidFill>
                <a:latin typeface="Aptos"/>
                <a:ea typeface="Aptos"/>
                <a:cs typeface="Aptos"/>
              </a:rPr>
              <a:t>Safety, situational awareness, practical technique and communication with guests require an instructor who was present.</a:t>
            </a:r>
          </a:p>
        </p:txBody>
      </p:sp>
      <p:sp>
        <p:nvSpPr>
          <p:cNvPr id="8" name="">
            <a:extLst xmlns:a="http://schemas.openxmlformats.org/drawingml/2006/main">
              <a:ext uri="{FF2B5EF4-FFF2-40B4-BE49-F238E27FC236}">
                <a16:creationId xmlns:a16="http://schemas.microsoft.com/office/drawing/2014/main" id="{12F0A8C1-3E4F-4C8D-9B20-11B50AEBBAD1}"/>
              </a:ext>
            </a:extLst>
          </p:cNvPr>
          <p:cNvSpPr>
            <a:spLocks xmlns:a="http://schemas.openxmlformats.org/drawingml/2006/main" noGrp="1"/>
          </p:cNvSpPr>
          <p:nvPr/>
        </p:nvSpPr>
        <p:spPr>
          <a:xfrm xmlns:a="http://schemas.openxmlformats.org/drawingml/2006/main">
            <a:off x="647700" y="64770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lgn="l">
              <a:defRPr sz="750" b="0">
                <a:solidFill>
                  <a:srgbClr val="5C676F"/>
                </a:solidFill>
                <a:latin typeface="Aptos"/>
                <a:ea typeface="Aptos"/>
                <a:cs typeface="Aptos"/>
              </a:defRPr>
            </a:pPr>
            <a:r>
              <a:rPr sz="750" b="0">
                <a:solidFill>
                  <a:srgbClr val="5C676F"/>
                </a:solidFill>
                <a:latin typeface="Aptos"/>
                <a:ea typeface="Aptos"/>
                <a:cs typeface="Aptos"/>
              </a:rPr>
              <a:t>Ethical AI for field guide education</a:t>
            </a:r>
          </a:p>
        </p:txBody>
      </p:sp>
      <p:sp>
        <p:nvSpPr>
          <p:cNvPr id="9" name="">
            <a:extLst xmlns:a="http://schemas.openxmlformats.org/drawingml/2006/main">
              <a:ext uri="{FF2B5EF4-FFF2-40B4-BE49-F238E27FC236}">
                <a16:creationId xmlns:a16="http://schemas.microsoft.com/office/drawing/2014/main" id="{67B861BD-6602-4281-B650-4E3E25DD45D6}"/>
              </a:ext>
            </a:extLst>
          </p:cNvPr>
          <p:cNvSpPr>
            <a:spLocks xmlns:a="http://schemas.openxmlformats.org/drawingml/2006/main" noGrp="1"/>
          </p:cNvSpPr>
          <p:nvPr/>
        </p:nvSpPr>
        <p:spPr>
          <a:xfrm xmlns:a="http://schemas.openxmlformats.org/drawingml/2006/main">
            <a:off x="11049000" y="6477000"/>
            <a:ext cx="495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lgn="r">
              <a:defRPr sz="750" b="0">
                <a:solidFill>
                  <a:srgbClr val="5C676F"/>
                </a:solidFill>
                <a:latin typeface="Aptos"/>
                <a:ea typeface="Aptos"/>
                <a:cs typeface="Aptos"/>
              </a:defRPr>
            </a:pPr>
            <a:r>
              <a:rPr sz="750" b="0">
                <a:solidFill>
                  <a:srgbClr val="5C676F"/>
                </a:solidFill>
                <a:latin typeface="Aptos"/>
                <a:ea typeface="Aptos"/>
                <a:cs typeface="Aptos"/>
              </a:rPr>
              <a:t>05</a:t>
            </a:r>
          </a:p>
        </p:txBody>
      </p:sp>
    </p:spTree>
    <p:extLst>
      <p:ext uri="{BB962C8B-B14F-4D97-AF65-F5344CB8AC3E}">
        <p14:creationId xmlns:p14="http://schemas.microsoft.com/office/powerpoint/2010/main" val="171873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EA1C9CA-CF9F-4B2F-9793-0A7D96ADD46C}"/>
              </a:ext>
            </a:extLst>
          </p:cNvPr>
          <p:cNvSpPr>
            <a:spLocks xmlns:a="http://schemas.openxmlformats.org/drawingml/2006/main" noGrp="1"/>
          </p:cNvSpPr>
          <p:nvPr/>
        </p:nvSpPr>
        <p:spPr>
          <a:xfrm xmlns:a="http://schemas.openxmlformats.org/drawingml/2006/main">
            <a:off x="647700" y="400050"/>
            <a:ext cx="609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3B6641"/>
                </a:solidFill>
                <a:latin typeface="Aptos"/>
                <a:ea typeface="Aptos"/>
                <a:cs typeface="Aptos"/>
              </a:defRPr>
            </a:pPr>
            <a:r>
              <a:rPr sz="975" b="1">
                <a:solidFill>
                  <a:srgbClr val="3B6641"/>
                </a:solidFill>
                <a:latin typeface="Aptos"/>
                <a:ea typeface="Aptos"/>
                <a:cs typeface="Aptos"/>
              </a:rPr>
              <a:t>CONSISTENCY</a:t>
            </a:r>
          </a:p>
        </p:txBody>
      </p:sp>
      <p:sp>
        <p:nvSpPr>
          <p:cNvPr id="2" name="">
            <a:extLst xmlns:a="http://schemas.openxmlformats.org/drawingml/2006/main">
              <a:ext uri="{FF2B5EF4-FFF2-40B4-BE49-F238E27FC236}">
                <a16:creationId xmlns:a16="http://schemas.microsoft.com/office/drawing/2014/main" id="{B021C13A-486E-485B-AE23-184505425157}"/>
              </a:ext>
            </a:extLst>
          </p:cNvPr>
          <p:cNvSpPr>
            <a:spLocks xmlns:a="http://schemas.openxmlformats.org/drawingml/2006/main" noGrp="1"/>
          </p:cNvSpPr>
          <p:nvPr/>
        </p:nvSpPr>
        <p:spPr>
          <a:xfrm xmlns:a="http://schemas.openxmlformats.org/drawingml/2006/main">
            <a:off x="647700" y="6667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B3F"/>
                </a:solidFill>
                <a:latin typeface="Aptos Display"/>
                <a:ea typeface="Aptos Display"/>
                <a:cs typeface="Aptos Display"/>
              </a:defRPr>
            </a:pPr>
            <a:r>
              <a:rPr sz="2550" b="1">
                <a:solidFill>
                  <a:srgbClr val="102B3F"/>
                </a:solidFill>
                <a:latin typeface="Aptos Display"/>
                <a:ea typeface="Aptos Display"/>
                <a:cs typeface="Aptos Display"/>
              </a:rPr>
              <a:t>Rubrics make the basis of a suggestion visible</a:t>
            </a:r>
          </a:p>
        </p:txBody>
      </p:sp>
      <p:sp>
        <p:nvSpPr>
          <p:cNvPr id="3" name="">
            <a:extLst xmlns:a="http://schemas.openxmlformats.org/drawingml/2006/main">
              <a:ext uri="{FF2B5EF4-FFF2-40B4-BE49-F238E27FC236}">
                <a16:creationId xmlns:a16="http://schemas.microsoft.com/office/drawing/2014/main" id="{C51AF03C-C45F-41FB-80DA-7098F967A1EE}"/>
              </a:ext>
            </a:extLst>
          </p:cNvPr>
          <p:cNvSpPr>
            <a:spLocks xmlns:a="http://schemas.openxmlformats.org/drawingml/2006/main" noGrp="1"/>
          </p:cNvSpPr>
          <p:nvPr/>
        </p:nvSpPr>
        <p:spPr>
          <a:xfrm xmlns:a="http://schemas.openxmlformats.org/drawingml/2006/main">
            <a:off x="647700" y="1257300"/>
            <a:ext cx="742950" cy="47625"/>
          </a:xfrm>
          <a:prstGeom xmlns:a="http://schemas.openxmlformats.org/drawingml/2006/main" prst="rect">
            <a:avLst/>
          </a:prstGeom>
          <a:solidFill xmlns:a="http://schemas.openxmlformats.org/drawingml/2006/main">
            <a:srgbClr val="9BB35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8C72D8B-FEB6-46C7-9791-297C28E08ADB}"/>
              </a:ext>
            </a:extLst>
          </p:cNvPr>
          <p:cNvSpPr>
            <a:spLocks xmlns:a="http://schemas.openxmlformats.org/drawingml/2006/main" noGrp="1"/>
          </p:cNvSpPr>
          <p:nvPr/>
        </p:nvSpPr>
        <p:spPr>
          <a:xfrm xmlns:a="http://schemas.openxmlformats.org/drawingml/2006/main">
            <a:off x="704850" y="165735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3B6641"/>
                </a:solidFill>
                <a:latin typeface="Aptos"/>
                <a:ea typeface="Aptos"/>
                <a:cs typeface="Aptos"/>
              </a:defRPr>
            </a:pPr>
            <a:r>
              <a:rPr sz="1950" b="1">
                <a:solidFill>
                  <a:srgbClr val="3B6641"/>
                </a:solidFill>
                <a:latin typeface="Aptos"/>
                <a:ea typeface="Aptos"/>
                <a:cs typeface="Aptos"/>
              </a:rPr>
              <a:t>Start with a supplied default</a:t>
            </a:r>
          </a:p>
        </p:txBody>
      </p:sp>
      <p:sp>
        <p:nvSpPr>
          <p:cNvPr id="5" name="">
            <a:extLst xmlns:a="http://schemas.openxmlformats.org/drawingml/2006/main">
              <a:ext uri="{FF2B5EF4-FFF2-40B4-BE49-F238E27FC236}">
                <a16:creationId xmlns:a16="http://schemas.microsoft.com/office/drawing/2014/main" id="{96174423-5FB2-416B-8931-1E6BB9390116}"/>
              </a:ext>
            </a:extLst>
          </p:cNvPr>
          <p:cNvSpPr>
            <a:spLocks xmlns:a="http://schemas.openxmlformats.org/drawingml/2006/main" noGrp="1"/>
          </p:cNvSpPr>
          <p:nvPr/>
        </p:nvSpPr>
        <p:spPr>
          <a:xfrm xmlns:a="http://schemas.openxmlformats.org/drawingml/2006/main">
            <a:off x="704850" y="2171700"/>
            <a:ext cx="4476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17212B"/>
                </a:solidFill>
                <a:latin typeface="Aptos"/>
                <a:ea typeface="Aptos"/>
                <a:cs typeface="Aptos"/>
              </a:defRPr>
            </a:pPr>
            <a:r>
              <a:rPr sz="1575" b="0">
                <a:solidFill>
                  <a:srgbClr val="17212B"/>
                </a:solidFill>
                <a:latin typeface="Aptos"/>
                <a:ea typeface="Aptos"/>
                <a:cs typeface="Aptos"/>
              </a:rPr>
              <a:t>Instructors should not need specialist rubric-building skills before they can use AI-supported marking.</a:t>
            </a:r>
          </a:p>
        </p:txBody>
      </p:sp>
      <p:sp>
        <p:nvSpPr>
          <p:cNvPr id="6" name="">
            <a:extLst xmlns:a="http://schemas.openxmlformats.org/drawingml/2006/main">
              <a:ext uri="{FF2B5EF4-FFF2-40B4-BE49-F238E27FC236}">
                <a16:creationId xmlns:a16="http://schemas.microsoft.com/office/drawing/2014/main" id="{BABAEC71-1C7B-474F-A98E-D7922CBD4AB0}"/>
              </a:ext>
            </a:extLst>
          </p:cNvPr>
          <p:cNvSpPr>
            <a:spLocks xmlns:a="http://schemas.openxmlformats.org/drawingml/2006/main" noGrp="1"/>
          </p:cNvSpPr>
          <p:nvPr/>
        </p:nvSpPr>
        <p:spPr>
          <a:xfrm xmlns:a="http://schemas.openxmlformats.org/drawingml/2006/main">
            <a:off x="704850" y="3486150"/>
            <a:ext cx="447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102B3F"/>
                </a:solidFill>
                <a:latin typeface="Aptos"/>
                <a:ea typeface="Aptos"/>
                <a:cs typeface="Aptos"/>
              </a:defRPr>
            </a:pPr>
            <a:r>
              <a:rPr sz="1575" b="1">
                <a:solidFill>
                  <a:srgbClr val="102B3F"/>
                </a:solidFill>
                <a:latin typeface="Aptos"/>
                <a:ea typeface="Aptos"/>
                <a:cs typeface="Aptos"/>
              </a:rPr>
              <a:t>A useful rubric answers three questions</a:t>
            </a:r>
          </a:p>
        </p:txBody>
      </p:sp>
      <p:sp>
        <p:nvSpPr>
          <p:cNvPr id="7" name="">
            <a:extLst xmlns:a="http://schemas.openxmlformats.org/drawingml/2006/main">
              <a:ext uri="{FF2B5EF4-FFF2-40B4-BE49-F238E27FC236}">
                <a16:creationId xmlns:a16="http://schemas.microsoft.com/office/drawing/2014/main" id="{C028281B-9C79-4604-B03C-147B8212F31A}"/>
              </a:ext>
            </a:extLst>
          </p:cNvPr>
          <p:cNvSpPr>
            <a:spLocks xmlns:a="http://schemas.openxmlformats.org/drawingml/2006/main" noGrp="1"/>
          </p:cNvSpPr>
          <p:nvPr/>
        </p:nvSpPr>
        <p:spPr>
          <a:xfrm xmlns:a="http://schemas.openxmlformats.org/drawingml/2006/main">
            <a:off x="704850" y="4057650"/>
            <a:ext cx="133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64453B"/>
                </a:solidFill>
                <a:latin typeface="Aptos"/>
                <a:ea typeface="Aptos"/>
                <a:cs typeface="Aptos"/>
              </a:defRPr>
            </a:pPr>
            <a:r>
              <a:rPr sz="1350" b="1">
                <a:solidFill>
                  <a:srgbClr val="64453B"/>
                </a:solidFill>
                <a:latin typeface="Aptos"/>
                <a:ea typeface="Aptos"/>
                <a:cs typeface="Aptos"/>
              </a:rPr>
              <a:t>Criterion</a:t>
            </a:r>
          </a:p>
        </p:txBody>
      </p:sp>
      <p:sp>
        <p:nvSpPr>
          <p:cNvPr id="8" name="">
            <a:extLst xmlns:a="http://schemas.openxmlformats.org/drawingml/2006/main">
              <a:ext uri="{FF2B5EF4-FFF2-40B4-BE49-F238E27FC236}">
                <a16:creationId xmlns:a16="http://schemas.microsoft.com/office/drawing/2014/main" id="{106B4976-653B-41F7-9AAD-9075ED43767D}"/>
              </a:ext>
            </a:extLst>
          </p:cNvPr>
          <p:cNvSpPr>
            <a:spLocks xmlns:a="http://schemas.openxmlformats.org/drawingml/2006/main" noGrp="1"/>
          </p:cNvSpPr>
          <p:nvPr/>
        </p:nvSpPr>
        <p:spPr>
          <a:xfrm xmlns:a="http://schemas.openxmlformats.org/drawingml/2006/main">
            <a:off x="2095500" y="40576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C676F"/>
                </a:solidFill>
                <a:latin typeface="Aptos"/>
                <a:ea typeface="Aptos"/>
                <a:cs typeface="Aptos"/>
              </a:defRPr>
            </a:pPr>
            <a:r>
              <a:rPr sz="1350" b="0">
                <a:solidFill>
                  <a:srgbClr val="5C676F"/>
                </a:solidFill>
                <a:latin typeface="Aptos"/>
                <a:ea typeface="Aptos"/>
                <a:cs typeface="Aptos"/>
              </a:rPr>
              <a:t>What quality are we judging?</a:t>
            </a:r>
          </a:p>
        </p:txBody>
      </p:sp>
      <p:sp>
        <p:nvSpPr>
          <p:cNvPr id="9" name="">
            <a:extLst xmlns:a="http://schemas.openxmlformats.org/drawingml/2006/main">
              <a:ext uri="{FF2B5EF4-FFF2-40B4-BE49-F238E27FC236}">
                <a16:creationId xmlns:a16="http://schemas.microsoft.com/office/drawing/2014/main" id="{B6C33B33-60DF-4958-8E6F-230515E5E7E4}"/>
              </a:ext>
            </a:extLst>
          </p:cNvPr>
          <p:cNvSpPr>
            <a:spLocks xmlns:a="http://schemas.openxmlformats.org/drawingml/2006/main" noGrp="1"/>
          </p:cNvSpPr>
          <p:nvPr/>
        </p:nvSpPr>
        <p:spPr>
          <a:xfrm xmlns:a="http://schemas.openxmlformats.org/drawingml/2006/main">
            <a:off x="704850" y="4686300"/>
            <a:ext cx="133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64453B"/>
                </a:solidFill>
                <a:latin typeface="Aptos"/>
                <a:ea typeface="Aptos"/>
                <a:cs typeface="Aptos"/>
              </a:defRPr>
            </a:pPr>
            <a:r>
              <a:rPr sz="1350" b="1">
                <a:solidFill>
                  <a:srgbClr val="64453B"/>
                </a:solidFill>
                <a:latin typeface="Aptos"/>
                <a:ea typeface="Aptos"/>
                <a:cs typeface="Aptos"/>
              </a:rPr>
              <a:t>Level</a:t>
            </a:r>
          </a:p>
        </p:txBody>
      </p:sp>
      <p:sp>
        <p:nvSpPr>
          <p:cNvPr id="10" name="">
            <a:extLst xmlns:a="http://schemas.openxmlformats.org/drawingml/2006/main">
              <a:ext uri="{FF2B5EF4-FFF2-40B4-BE49-F238E27FC236}">
                <a16:creationId xmlns:a16="http://schemas.microsoft.com/office/drawing/2014/main" id="{B1EE988D-0EDA-42CE-B507-E4AA9FE01BEB}"/>
              </a:ext>
            </a:extLst>
          </p:cNvPr>
          <p:cNvSpPr>
            <a:spLocks xmlns:a="http://schemas.openxmlformats.org/drawingml/2006/main" noGrp="1"/>
          </p:cNvSpPr>
          <p:nvPr/>
        </p:nvSpPr>
        <p:spPr>
          <a:xfrm xmlns:a="http://schemas.openxmlformats.org/drawingml/2006/main">
            <a:off x="2095500" y="46863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C676F"/>
                </a:solidFill>
                <a:latin typeface="Aptos"/>
                <a:ea typeface="Aptos"/>
                <a:cs typeface="Aptos"/>
              </a:defRPr>
            </a:pPr>
            <a:r>
              <a:rPr sz="1350" b="0">
                <a:solidFill>
                  <a:srgbClr val="5C676F"/>
                </a:solidFill>
                <a:latin typeface="Aptos"/>
                <a:ea typeface="Aptos"/>
                <a:cs typeface="Aptos"/>
              </a:rPr>
              <a:t>How well does the work demonstrate it?</a:t>
            </a:r>
          </a:p>
        </p:txBody>
      </p:sp>
      <p:sp>
        <p:nvSpPr>
          <p:cNvPr id="11" name="">
            <a:extLst xmlns:a="http://schemas.openxmlformats.org/drawingml/2006/main">
              <a:ext uri="{FF2B5EF4-FFF2-40B4-BE49-F238E27FC236}">
                <a16:creationId xmlns:a16="http://schemas.microsoft.com/office/drawing/2014/main" id="{89808ECA-1140-4190-9084-F40E01FC3777}"/>
              </a:ext>
            </a:extLst>
          </p:cNvPr>
          <p:cNvSpPr>
            <a:spLocks xmlns:a="http://schemas.openxmlformats.org/drawingml/2006/main" noGrp="1"/>
          </p:cNvSpPr>
          <p:nvPr/>
        </p:nvSpPr>
        <p:spPr>
          <a:xfrm xmlns:a="http://schemas.openxmlformats.org/drawingml/2006/main">
            <a:off x="704850" y="5314950"/>
            <a:ext cx="133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defRPr sz="1350" b="1">
                <a:solidFill>
                  <a:srgbClr val="64453B"/>
                </a:solidFill>
                <a:latin typeface="Aptos"/>
                <a:ea typeface="Aptos"/>
                <a:cs typeface="Aptos"/>
              </a:defRPr>
            </a:pPr>
            <a:r>
              <a:rPr sz="1350" b="1">
                <a:solidFill>
                  <a:srgbClr val="64453B"/>
                </a:solidFill>
                <a:latin typeface="Aptos"/>
                <a:ea typeface="Aptos"/>
                <a:cs typeface="Aptos"/>
              </a:rPr>
              <a:t>Descriptor</a:t>
            </a:r>
          </a:p>
        </p:txBody>
      </p:sp>
      <p:sp>
        <p:nvSpPr>
          <p:cNvPr id="12" name="">
            <a:extLst xmlns:a="http://schemas.openxmlformats.org/drawingml/2006/main">
              <a:ext uri="{FF2B5EF4-FFF2-40B4-BE49-F238E27FC236}">
                <a16:creationId xmlns:a16="http://schemas.microsoft.com/office/drawing/2014/main" id="{A0BC0B74-EDFE-4F75-ADE9-64581008EA68}"/>
              </a:ext>
            </a:extLst>
          </p:cNvPr>
          <p:cNvSpPr>
            <a:spLocks xmlns:a="http://schemas.openxmlformats.org/drawingml/2006/main" noGrp="1"/>
          </p:cNvSpPr>
          <p:nvPr/>
        </p:nvSpPr>
        <p:spPr>
          <a:xfrm xmlns:a="http://schemas.openxmlformats.org/drawingml/2006/main">
            <a:off x="2095500" y="53149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C676F"/>
                </a:solidFill>
                <a:latin typeface="Aptos"/>
                <a:ea typeface="Aptos"/>
                <a:cs typeface="Aptos"/>
              </a:defRPr>
            </a:pPr>
            <a:r>
              <a:rPr sz="1350" b="0">
                <a:solidFill>
                  <a:srgbClr val="5C676F"/>
                </a:solidFill>
                <a:latin typeface="Aptos"/>
                <a:ea typeface="Aptos"/>
                <a:cs typeface="Aptos"/>
              </a:rPr>
              <a:t>What evidence distinguishes this level?</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8051858e39614dcc"/>
          <a:srcRect xmlns:a="http://schemas.openxmlformats.org/drawingml/2006/main" l="12274" t="0" r="12274" b="0"/>
          <a:stretch xmlns:a="http://schemas.openxmlformats.org/drawingml/2006/main">
            <a:fillRect l="0" t="0" r="0" b="0"/>
          </a:stretch>
        </p:blipFill>
        <p:spPr>
          <a:xfrm xmlns:a="http://schemas.openxmlformats.org/drawingml/2006/main">
            <a:off x="5810250" y="1381125"/>
            <a:ext cx="5810250" cy="43338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C68C6E3C-E35F-4007-B541-9EC3B244BC1E}"/>
              </a:ext>
            </a:extLst>
          </p:cNvPr>
          <p:cNvSpPr>
            <a:spLocks xmlns:a="http://schemas.openxmlformats.org/drawingml/2006/main" noGrp="1"/>
          </p:cNvSpPr>
          <p:nvPr/>
        </p:nvSpPr>
        <p:spPr>
          <a:xfrm xmlns:a="http://schemas.openxmlformats.org/drawingml/2006/main">
            <a:off x="5810250" y="5715000"/>
            <a:ext cx="5810250" cy="419100"/>
          </a:xfrm>
          <a:prstGeom xmlns:a="http://schemas.openxmlformats.org/drawingml/2006/main" prst="rect">
            <a:avLst/>
          </a:prstGeom>
          <a:solidFill xmlns:a="http://schemas.openxmlformats.org/drawingml/2006/main">
            <a:srgbClr val="3B6641"/>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69277F1-FCB7-46BF-9309-156E3A32DED4}"/>
              </a:ext>
            </a:extLst>
          </p:cNvPr>
          <p:cNvSpPr>
            <a:spLocks xmlns:a="http://schemas.openxmlformats.org/drawingml/2006/main" noGrp="1"/>
          </p:cNvSpPr>
          <p:nvPr/>
        </p:nvSpPr>
        <p:spPr>
          <a:xfrm xmlns:a="http://schemas.openxmlformats.org/drawingml/2006/main">
            <a:off x="6038850" y="5734050"/>
            <a:ext cx="5353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FFFFFF"/>
                </a:solidFill>
                <a:latin typeface="Aptos"/>
                <a:ea typeface="Aptos"/>
                <a:cs typeface="Aptos"/>
              </a:defRPr>
            </a:pPr>
            <a:r>
              <a:rPr sz="1275" b="1">
                <a:solidFill>
                  <a:srgbClr val="FFFFFF"/>
                </a:solidFill>
                <a:latin typeface="Aptos"/>
                <a:ea typeface="Aptos"/>
                <a:cs typeface="Aptos"/>
              </a:rPr>
              <a:t>A rubric supports judgement. It does not replace it.</a:t>
            </a:r>
          </a:p>
        </p:txBody>
      </p:sp>
      <p:sp>
        <p:nvSpPr>
          <p:cNvPr id="16" name="">
            <a:extLst xmlns:a="http://schemas.openxmlformats.org/drawingml/2006/main">
              <a:ext uri="{FF2B5EF4-FFF2-40B4-BE49-F238E27FC236}">
                <a16:creationId xmlns:a16="http://schemas.microsoft.com/office/drawing/2014/main" id="{849DE773-1ECF-47EF-A142-22026A6C4FAD}"/>
              </a:ext>
            </a:extLst>
          </p:cNvPr>
          <p:cNvSpPr>
            <a:spLocks xmlns:a="http://schemas.openxmlformats.org/drawingml/2006/main" noGrp="1"/>
          </p:cNvSpPr>
          <p:nvPr/>
        </p:nvSpPr>
        <p:spPr>
          <a:xfrm xmlns:a="http://schemas.openxmlformats.org/drawingml/2006/main">
            <a:off x="647700" y="64770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lgn="l">
              <a:defRPr sz="750" b="0">
                <a:solidFill>
                  <a:srgbClr val="5C676F"/>
                </a:solidFill>
                <a:latin typeface="Aptos"/>
                <a:ea typeface="Aptos"/>
                <a:cs typeface="Aptos"/>
              </a:defRPr>
            </a:pPr>
            <a:r>
              <a:rPr sz="750" b="0">
                <a:solidFill>
                  <a:srgbClr val="5C676F"/>
                </a:solidFill>
                <a:latin typeface="Aptos"/>
                <a:ea typeface="Aptos"/>
                <a:cs typeface="Aptos"/>
              </a:rPr>
              <a:t>Ethical AI for field guide education</a:t>
            </a:r>
          </a:p>
        </p:txBody>
      </p:sp>
      <p:sp>
        <p:nvSpPr>
          <p:cNvPr id="17" name="">
            <a:extLst xmlns:a="http://schemas.openxmlformats.org/drawingml/2006/main">
              <a:ext uri="{FF2B5EF4-FFF2-40B4-BE49-F238E27FC236}">
                <a16:creationId xmlns:a16="http://schemas.microsoft.com/office/drawing/2014/main" id="{09637EB9-4394-4E2B-9432-D118D49C3248}"/>
              </a:ext>
            </a:extLst>
          </p:cNvPr>
          <p:cNvSpPr>
            <a:spLocks xmlns:a="http://schemas.openxmlformats.org/drawingml/2006/main" noGrp="1"/>
          </p:cNvSpPr>
          <p:nvPr/>
        </p:nvSpPr>
        <p:spPr>
          <a:xfrm xmlns:a="http://schemas.openxmlformats.org/drawingml/2006/main">
            <a:off x="11049000" y="6477000"/>
            <a:ext cx="495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lgn="r">
              <a:defRPr sz="750" b="0">
                <a:solidFill>
                  <a:srgbClr val="5C676F"/>
                </a:solidFill>
                <a:latin typeface="Aptos"/>
                <a:ea typeface="Aptos"/>
                <a:cs typeface="Aptos"/>
              </a:defRPr>
            </a:pPr>
            <a:r>
              <a:rPr sz="750" b="0">
                <a:solidFill>
                  <a:srgbClr val="5C676F"/>
                </a:solidFill>
                <a:latin typeface="Aptos"/>
                <a:ea typeface="Aptos"/>
                <a:cs typeface="Aptos"/>
              </a:rPr>
              <a:t>06</a:t>
            </a:r>
          </a:p>
        </p:txBody>
      </p:sp>
    </p:spTree>
    <p:extLst>
      <p:ext uri="{BB962C8B-B14F-4D97-AF65-F5344CB8AC3E}">
        <p14:creationId xmlns:p14="http://schemas.microsoft.com/office/powerpoint/2010/main" val="775292504"/>
      </p:ext>
    </p:extLst>
  </p:cSld>
</p:sld>
</file>

<file path=ppt/slides/slide7.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7E77F60-DF19-4744-85F1-727022E84FF7}"/>
              </a:ext>
            </a:extLst>
          </p:cNvPr>
          <p:cNvSpPr>
            <a:spLocks xmlns:a="http://schemas.openxmlformats.org/drawingml/2006/main" noGrp="1"/>
          </p:cNvSpPr>
          <p:nvPr/>
        </p:nvSpPr>
        <p:spPr>
          <a:xfrm xmlns:a="http://schemas.openxmlformats.org/drawingml/2006/main">
            <a:off x="647700" y="400050"/>
            <a:ext cx="609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3B6641"/>
                </a:solidFill>
                <a:latin typeface="Aptos"/>
                <a:ea typeface="Aptos"/>
                <a:cs typeface="Aptos"/>
              </a:defRPr>
            </a:pPr>
            <a:r>
              <a:rPr sz="975" b="1">
                <a:solidFill>
                  <a:srgbClr val="3B6641"/>
                </a:solidFill>
                <a:latin typeface="Aptos"/>
                <a:ea typeface="Aptos"/>
                <a:cs typeface="Aptos"/>
              </a:rPr>
              <a:t>BOUNDARIES</a:t>
            </a:r>
          </a:p>
        </p:txBody>
      </p:sp>
      <p:sp>
        <p:nvSpPr>
          <p:cNvPr id="2" name="">
            <a:extLst xmlns:a="http://schemas.openxmlformats.org/drawingml/2006/main">
              <a:ext uri="{FF2B5EF4-FFF2-40B4-BE49-F238E27FC236}">
                <a16:creationId xmlns:a16="http://schemas.microsoft.com/office/drawing/2014/main" id="{76A8B811-1D9E-4A38-9D07-B15BBC84DA95}"/>
              </a:ext>
            </a:extLst>
          </p:cNvPr>
          <p:cNvSpPr>
            <a:spLocks xmlns:a="http://schemas.openxmlformats.org/drawingml/2006/main" noGrp="1"/>
          </p:cNvSpPr>
          <p:nvPr/>
        </p:nvSpPr>
        <p:spPr>
          <a:xfrm xmlns:a="http://schemas.openxmlformats.org/drawingml/2006/main">
            <a:off x="647700" y="6667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B3F"/>
                </a:solidFill>
                <a:latin typeface="Aptos Display"/>
                <a:ea typeface="Aptos Display"/>
                <a:cs typeface="Aptos Display"/>
              </a:defRPr>
            </a:pPr>
            <a:r>
              <a:rPr sz="2550" b="1">
                <a:solidFill>
                  <a:srgbClr val="102B3F"/>
                </a:solidFill>
                <a:latin typeface="Aptos Display"/>
                <a:ea typeface="Aptos Display"/>
                <a:cs typeface="Aptos Display"/>
              </a:rPr>
              <a:t>Clear limits protect students and instructors</a:t>
            </a:r>
          </a:p>
        </p:txBody>
      </p:sp>
      <p:sp>
        <p:nvSpPr>
          <p:cNvPr id="3" name="">
            <a:extLst xmlns:a="http://schemas.openxmlformats.org/drawingml/2006/main">
              <a:ext uri="{FF2B5EF4-FFF2-40B4-BE49-F238E27FC236}">
                <a16:creationId xmlns:a16="http://schemas.microsoft.com/office/drawing/2014/main" id="{6FB98DE7-DB50-4440-AF68-4E7FAD9ACF70}"/>
              </a:ext>
            </a:extLst>
          </p:cNvPr>
          <p:cNvSpPr>
            <a:spLocks xmlns:a="http://schemas.openxmlformats.org/drawingml/2006/main" noGrp="1"/>
          </p:cNvSpPr>
          <p:nvPr/>
        </p:nvSpPr>
        <p:spPr>
          <a:xfrm xmlns:a="http://schemas.openxmlformats.org/drawingml/2006/main">
            <a:off x="647700" y="1257300"/>
            <a:ext cx="742950" cy="47625"/>
          </a:xfrm>
          <a:prstGeom xmlns:a="http://schemas.openxmlformats.org/drawingml/2006/main" prst="rect">
            <a:avLst/>
          </a:prstGeom>
          <a:solidFill xmlns:a="http://schemas.openxmlformats.org/drawingml/2006/main">
            <a:srgbClr val="9BB35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DC2A4B6-46A6-4CF1-AA93-CB5EFBBAB66A}"/>
              </a:ext>
            </a:extLst>
          </p:cNvPr>
          <p:cNvSpPr>
            <a:spLocks xmlns:a="http://schemas.openxmlformats.org/drawingml/2006/main" noGrp="1"/>
          </p:cNvSpPr>
          <p:nvPr/>
        </p:nvSpPr>
        <p:spPr>
          <a:xfrm xmlns:a="http://schemas.openxmlformats.org/drawingml/2006/main">
            <a:off x="704850" y="1638300"/>
            <a:ext cx="76200" cy="781050"/>
          </a:xfrm>
          <a:prstGeom xmlns:a="http://schemas.openxmlformats.org/drawingml/2006/main" prst="roundRect">
            <a:avLst>
              <a:gd name="adj" fmla="val 50000"/>
            </a:avLst>
          </a:prstGeom>
          <a:solidFill xmlns:a="http://schemas.openxmlformats.org/drawingml/2006/main">
            <a:srgbClr val="3B664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3396D78-EA36-4594-8C72-A28C14637C39}"/>
              </a:ext>
            </a:extLst>
          </p:cNvPr>
          <p:cNvSpPr>
            <a:spLocks xmlns:a="http://schemas.openxmlformats.org/drawingml/2006/main" noGrp="1"/>
          </p:cNvSpPr>
          <p:nvPr/>
        </p:nvSpPr>
        <p:spPr>
          <a:xfrm xmlns:a="http://schemas.openxmlformats.org/drawingml/2006/main">
            <a:off x="1009650" y="16192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102B3F"/>
                </a:solidFill>
                <a:latin typeface="Aptos"/>
                <a:ea typeface="Aptos"/>
                <a:cs typeface="Aptos"/>
              </a:defRPr>
            </a:pPr>
            <a:r>
              <a:rPr sz="1650" b="1">
                <a:solidFill>
                  <a:srgbClr val="102B3F"/>
                </a:solidFill>
                <a:latin typeface="Aptos"/>
                <a:ea typeface="Aptos"/>
                <a:cs typeface="Aptos"/>
              </a:rPr>
              <a:t>No automatic publication</a:t>
            </a:r>
          </a:p>
        </p:txBody>
      </p:sp>
      <p:sp>
        <p:nvSpPr>
          <p:cNvPr id="6" name="">
            <a:extLst xmlns:a="http://schemas.openxmlformats.org/drawingml/2006/main">
              <a:ext uri="{FF2B5EF4-FFF2-40B4-BE49-F238E27FC236}">
                <a16:creationId xmlns:a16="http://schemas.microsoft.com/office/drawing/2014/main" id="{04DFA249-B77C-4BB1-BF7F-D7BCD74762DE}"/>
              </a:ext>
            </a:extLst>
          </p:cNvPr>
          <p:cNvSpPr>
            <a:spLocks xmlns:a="http://schemas.openxmlformats.org/drawingml/2006/main" noGrp="1"/>
          </p:cNvSpPr>
          <p:nvPr/>
        </p:nvSpPr>
        <p:spPr>
          <a:xfrm xmlns:a="http://schemas.openxmlformats.org/drawingml/2006/main">
            <a:off x="1009650" y="1962150"/>
            <a:ext cx="971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C676F"/>
                </a:solidFill>
                <a:latin typeface="Aptos"/>
                <a:ea typeface="Aptos"/>
                <a:cs typeface="Aptos"/>
              </a:defRPr>
            </a:pPr>
            <a:r>
              <a:rPr sz="1350" b="0">
                <a:solidFill>
                  <a:srgbClr val="5C676F"/>
                </a:solidFill>
                <a:latin typeface="Aptos"/>
                <a:ea typeface="Aptos"/>
                <a:cs typeface="Aptos"/>
              </a:rPr>
              <a:t>AI suggestions remain drafts until an instructor saves a decision.</a:t>
            </a:r>
          </a:p>
        </p:txBody>
      </p:sp>
      <p:sp>
        <p:nvSpPr>
          <p:cNvPr id="7" name="">
            <a:extLst xmlns:a="http://schemas.openxmlformats.org/drawingml/2006/main">
              <a:ext uri="{FF2B5EF4-FFF2-40B4-BE49-F238E27FC236}">
                <a16:creationId xmlns:a16="http://schemas.microsoft.com/office/drawing/2014/main" id="{77DE9B93-B49F-4306-940F-01C7864507AE}"/>
              </a:ext>
            </a:extLst>
          </p:cNvPr>
          <p:cNvSpPr>
            <a:spLocks xmlns:a="http://schemas.openxmlformats.org/drawingml/2006/main" noGrp="1"/>
          </p:cNvSpPr>
          <p:nvPr/>
        </p:nvSpPr>
        <p:spPr>
          <a:xfrm xmlns:a="http://schemas.openxmlformats.org/drawingml/2006/main">
            <a:off x="704850" y="2705100"/>
            <a:ext cx="76200" cy="781050"/>
          </a:xfrm>
          <a:prstGeom xmlns:a="http://schemas.openxmlformats.org/drawingml/2006/main" prst="roundRect">
            <a:avLst>
              <a:gd name="adj" fmla="val 50000"/>
            </a:avLst>
          </a:prstGeom>
          <a:solidFill xmlns:a="http://schemas.openxmlformats.org/drawingml/2006/main">
            <a:srgbClr val="64453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679DED7-DB8C-4C1E-935F-95FB084DB2AE}"/>
              </a:ext>
            </a:extLst>
          </p:cNvPr>
          <p:cNvSpPr>
            <a:spLocks xmlns:a="http://schemas.openxmlformats.org/drawingml/2006/main" noGrp="1"/>
          </p:cNvSpPr>
          <p:nvPr/>
        </p:nvSpPr>
        <p:spPr>
          <a:xfrm xmlns:a="http://schemas.openxmlformats.org/drawingml/2006/main">
            <a:off x="1009650" y="26860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102B3F"/>
                </a:solidFill>
                <a:latin typeface="Aptos"/>
                <a:ea typeface="Aptos"/>
                <a:cs typeface="Aptos"/>
              </a:defRPr>
            </a:pPr>
            <a:r>
              <a:rPr sz="1650" b="1">
                <a:solidFill>
                  <a:srgbClr val="102B3F"/>
                </a:solidFill>
                <a:latin typeface="Aptos"/>
                <a:ea typeface="Aptos"/>
                <a:cs typeface="Aptos"/>
              </a:rPr>
              <a:t>No invented evidence</a:t>
            </a:r>
          </a:p>
        </p:txBody>
      </p:sp>
      <p:sp>
        <p:nvSpPr>
          <p:cNvPr id="9" name="">
            <a:extLst xmlns:a="http://schemas.openxmlformats.org/drawingml/2006/main">
              <a:ext uri="{FF2B5EF4-FFF2-40B4-BE49-F238E27FC236}">
                <a16:creationId xmlns:a16="http://schemas.microsoft.com/office/drawing/2014/main" id="{A13AD327-1B8E-475A-8933-D00895355837}"/>
              </a:ext>
            </a:extLst>
          </p:cNvPr>
          <p:cNvSpPr>
            <a:spLocks xmlns:a="http://schemas.openxmlformats.org/drawingml/2006/main" noGrp="1"/>
          </p:cNvSpPr>
          <p:nvPr/>
        </p:nvSpPr>
        <p:spPr>
          <a:xfrm xmlns:a="http://schemas.openxmlformats.org/drawingml/2006/main">
            <a:off x="1009650" y="3028950"/>
            <a:ext cx="971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C676F"/>
                </a:solidFill>
                <a:latin typeface="Aptos"/>
                <a:ea typeface="Aptos"/>
                <a:cs typeface="Aptos"/>
              </a:defRPr>
            </a:pPr>
            <a:r>
              <a:rPr sz="1350" b="0">
                <a:solidFill>
                  <a:srgbClr val="5C676F"/>
                </a:solidFill>
                <a:latin typeface="Aptos"/>
                <a:ea typeface="Aptos"/>
                <a:cs typeface="Aptos"/>
              </a:rPr>
              <a:t>Unsupported files stay available for manual review. A filename never becomes a substitute for content.</a:t>
            </a:r>
          </a:p>
        </p:txBody>
      </p:sp>
      <p:sp>
        <p:nvSpPr>
          <p:cNvPr id="10" name="">
            <a:extLst xmlns:a="http://schemas.openxmlformats.org/drawingml/2006/main">
              <a:ext uri="{FF2B5EF4-FFF2-40B4-BE49-F238E27FC236}">
                <a16:creationId xmlns:a16="http://schemas.microsoft.com/office/drawing/2014/main" id="{AD1B6836-B66B-40AE-A9D0-0160BA35930C}"/>
              </a:ext>
            </a:extLst>
          </p:cNvPr>
          <p:cNvSpPr>
            <a:spLocks xmlns:a="http://schemas.openxmlformats.org/drawingml/2006/main" noGrp="1"/>
          </p:cNvSpPr>
          <p:nvPr/>
        </p:nvSpPr>
        <p:spPr>
          <a:xfrm xmlns:a="http://schemas.openxmlformats.org/drawingml/2006/main">
            <a:off x="704850" y="3771900"/>
            <a:ext cx="76200" cy="781050"/>
          </a:xfrm>
          <a:prstGeom xmlns:a="http://schemas.openxmlformats.org/drawingml/2006/main" prst="roundRect">
            <a:avLst>
              <a:gd name="adj" fmla="val 50000"/>
            </a:avLst>
          </a:prstGeom>
          <a:solidFill xmlns:a="http://schemas.openxmlformats.org/drawingml/2006/main">
            <a:srgbClr val="3B664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D154897-6F7B-493E-9775-4814F70972DD}"/>
              </a:ext>
            </a:extLst>
          </p:cNvPr>
          <p:cNvSpPr>
            <a:spLocks xmlns:a="http://schemas.openxmlformats.org/drawingml/2006/main" noGrp="1"/>
          </p:cNvSpPr>
          <p:nvPr/>
        </p:nvSpPr>
        <p:spPr>
          <a:xfrm xmlns:a="http://schemas.openxmlformats.org/drawingml/2006/main">
            <a:off x="1009650" y="37528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102B3F"/>
                </a:solidFill>
                <a:latin typeface="Aptos"/>
                <a:ea typeface="Aptos"/>
                <a:cs typeface="Aptos"/>
              </a:defRPr>
            </a:pPr>
            <a:r>
              <a:rPr sz="1650" b="1">
                <a:solidFill>
                  <a:srgbClr val="102B3F"/>
                </a:solidFill>
                <a:latin typeface="Aptos"/>
                <a:ea typeface="Aptos"/>
                <a:cs typeface="Aptos"/>
              </a:rPr>
              <a:t>No hidden authority</a:t>
            </a:r>
          </a:p>
        </p:txBody>
      </p:sp>
      <p:sp>
        <p:nvSpPr>
          <p:cNvPr id="12" name="">
            <a:extLst xmlns:a="http://schemas.openxmlformats.org/drawingml/2006/main">
              <a:ext uri="{FF2B5EF4-FFF2-40B4-BE49-F238E27FC236}">
                <a16:creationId xmlns:a16="http://schemas.microsoft.com/office/drawing/2014/main" id="{52BCB1DE-605D-4248-A7EA-A7ABA564640F}"/>
              </a:ext>
            </a:extLst>
          </p:cNvPr>
          <p:cNvSpPr>
            <a:spLocks xmlns:a="http://schemas.openxmlformats.org/drawingml/2006/main" noGrp="1"/>
          </p:cNvSpPr>
          <p:nvPr/>
        </p:nvSpPr>
        <p:spPr>
          <a:xfrm xmlns:a="http://schemas.openxmlformats.org/drawingml/2006/main">
            <a:off x="1009650" y="4095750"/>
            <a:ext cx="971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C676F"/>
                </a:solidFill>
                <a:latin typeface="Aptos"/>
                <a:ea typeface="Aptos"/>
                <a:cs typeface="Aptos"/>
              </a:defRPr>
            </a:pPr>
            <a:r>
              <a:rPr sz="1350" b="0">
                <a:solidFill>
                  <a:srgbClr val="5C676F"/>
                </a:solidFill>
                <a:latin typeface="Aptos"/>
                <a:ea typeface="Aptos"/>
                <a:cs typeface="Aptos"/>
              </a:rPr>
              <a:t>The page identifies the suggestion as AI-supported and keeps the editable human decision visible.</a:t>
            </a:r>
          </a:p>
        </p:txBody>
      </p:sp>
      <p:sp>
        <p:nvSpPr>
          <p:cNvPr id="13" name="">
            <a:extLst xmlns:a="http://schemas.openxmlformats.org/drawingml/2006/main">
              <a:ext uri="{FF2B5EF4-FFF2-40B4-BE49-F238E27FC236}">
                <a16:creationId xmlns:a16="http://schemas.microsoft.com/office/drawing/2014/main" id="{A8D5D267-8891-4994-B9F0-03C733BC60F4}"/>
              </a:ext>
            </a:extLst>
          </p:cNvPr>
          <p:cNvSpPr>
            <a:spLocks xmlns:a="http://schemas.openxmlformats.org/drawingml/2006/main" noGrp="1"/>
          </p:cNvSpPr>
          <p:nvPr/>
        </p:nvSpPr>
        <p:spPr>
          <a:xfrm xmlns:a="http://schemas.openxmlformats.org/drawingml/2006/main">
            <a:off x="704850" y="4838700"/>
            <a:ext cx="76200" cy="781050"/>
          </a:xfrm>
          <a:prstGeom xmlns:a="http://schemas.openxmlformats.org/drawingml/2006/main" prst="roundRect">
            <a:avLst>
              <a:gd name="adj" fmla="val 50000"/>
            </a:avLst>
          </a:prstGeom>
          <a:solidFill xmlns:a="http://schemas.openxmlformats.org/drawingml/2006/main">
            <a:srgbClr val="3B664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B7A3203-7B17-403D-B2E2-1AB68232C51A}"/>
              </a:ext>
            </a:extLst>
          </p:cNvPr>
          <p:cNvSpPr>
            <a:spLocks xmlns:a="http://schemas.openxmlformats.org/drawingml/2006/main" noGrp="1"/>
          </p:cNvSpPr>
          <p:nvPr/>
        </p:nvSpPr>
        <p:spPr>
          <a:xfrm xmlns:a="http://schemas.openxmlformats.org/drawingml/2006/main">
            <a:off x="1009650" y="48196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l">
              <a:defRPr sz="1650" b="1">
                <a:solidFill>
                  <a:srgbClr val="102B3F"/>
                </a:solidFill>
                <a:latin typeface="Aptos"/>
                <a:ea typeface="Aptos"/>
                <a:cs typeface="Aptos"/>
              </a:defRPr>
            </a:pPr>
            <a:r>
              <a:rPr sz="1650" b="1">
                <a:solidFill>
                  <a:srgbClr val="102B3F"/>
                </a:solidFill>
                <a:latin typeface="Aptos"/>
                <a:ea typeface="Aptos"/>
                <a:cs typeface="Aptos"/>
              </a:rPr>
              <a:t>No forced dependency</a:t>
            </a:r>
          </a:p>
        </p:txBody>
      </p:sp>
      <p:sp>
        <p:nvSpPr>
          <p:cNvPr id="15" name="">
            <a:extLst xmlns:a="http://schemas.openxmlformats.org/drawingml/2006/main">
              <a:ext uri="{FF2B5EF4-FFF2-40B4-BE49-F238E27FC236}">
                <a16:creationId xmlns:a16="http://schemas.microsoft.com/office/drawing/2014/main" id="{AE84D57F-CF57-4ADB-9CFA-2E76B16ED7EE}"/>
              </a:ext>
            </a:extLst>
          </p:cNvPr>
          <p:cNvSpPr>
            <a:spLocks xmlns:a="http://schemas.openxmlformats.org/drawingml/2006/main" noGrp="1"/>
          </p:cNvSpPr>
          <p:nvPr/>
        </p:nvSpPr>
        <p:spPr>
          <a:xfrm xmlns:a="http://schemas.openxmlformats.org/drawingml/2006/main">
            <a:off x="1009650" y="5162550"/>
            <a:ext cx="971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C676F"/>
                </a:solidFill>
                <a:latin typeface="Aptos"/>
                <a:ea typeface="Aptos"/>
                <a:cs typeface="Aptos"/>
              </a:defRPr>
            </a:pPr>
            <a:r>
              <a:rPr sz="1350" b="0">
                <a:solidFill>
                  <a:srgbClr val="5C676F"/>
                </a:solidFill>
                <a:latin typeface="Aptos"/>
                <a:ea typeface="Aptos"/>
                <a:cs typeface="Aptos"/>
              </a:rPr>
              <a:t>Manual marking remains available when the AI service is unavailable or unsuitable.</a:t>
            </a:r>
          </a:p>
        </p:txBody>
      </p:sp>
      <p:sp>
        <p:nvSpPr>
          <p:cNvPr id="16" name="">
            <a:extLst xmlns:a="http://schemas.openxmlformats.org/drawingml/2006/main">
              <a:ext uri="{FF2B5EF4-FFF2-40B4-BE49-F238E27FC236}">
                <a16:creationId xmlns:a16="http://schemas.microsoft.com/office/drawing/2014/main" id="{E4507BDC-1ECB-4F65-9D85-01922254741F}"/>
              </a:ext>
            </a:extLst>
          </p:cNvPr>
          <p:cNvSpPr>
            <a:spLocks xmlns:a="http://schemas.openxmlformats.org/drawingml/2006/main" noGrp="1"/>
          </p:cNvSpPr>
          <p:nvPr/>
        </p:nvSpPr>
        <p:spPr>
          <a:xfrm xmlns:a="http://schemas.openxmlformats.org/drawingml/2006/main">
            <a:off x="876300" y="5943600"/>
            <a:ext cx="10439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3B6641"/>
                </a:solidFill>
                <a:latin typeface="Aptos"/>
                <a:ea typeface="Aptos"/>
                <a:cs typeface="Aptos"/>
              </a:defRPr>
            </a:pPr>
            <a:r>
              <a:rPr sz="1725" b="1">
                <a:solidFill>
                  <a:srgbClr val="3B6641"/>
                </a:solidFill>
                <a:latin typeface="Aptos"/>
                <a:ea typeface="Aptos"/>
                <a:cs typeface="Aptos"/>
              </a:rPr>
              <a:t>Transparency is part of the interface, not an afterthought</a:t>
            </a:r>
          </a:p>
        </p:txBody>
      </p:sp>
      <p:sp>
        <p:nvSpPr>
          <p:cNvPr id="17" name="">
            <a:extLst xmlns:a="http://schemas.openxmlformats.org/drawingml/2006/main">
              <a:ext uri="{FF2B5EF4-FFF2-40B4-BE49-F238E27FC236}">
                <a16:creationId xmlns:a16="http://schemas.microsoft.com/office/drawing/2014/main" id="{84B1C667-B590-4C1E-BF55-6809AC92DA5F}"/>
              </a:ext>
            </a:extLst>
          </p:cNvPr>
          <p:cNvSpPr>
            <a:spLocks xmlns:a="http://schemas.openxmlformats.org/drawingml/2006/main" noGrp="1"/>
          </p:cNvSpPr>
          <p:nvPr/>
        </p:nvSpPr>
        <p:spPr>
          <a:xfrm xmlns:a="http://schemas.openxmlformats.org/drawingml/2006/main">
            <a:off x="647700" y="64770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lgn="l">
              <a:defRPr sz="750" b="0">
                <a:solidFill>
                  <a:srgbClr val="5C676F"/>
                </a:solidFill>
                <a:latin typeface="Aptos"/>
                <a:ea typeface="Aptos"/>
                <a:cs typeface="Aptos"/>
              </a:defRPr>
            </a:pPr>
            <a:r>
              <a:rPr sz="750" b="0">
                <a:solidFill>
                  <a:srgbClr val="5C676F"/>
                </a:solidFill>
                <a:latin typeface="Aptos"/>
                <a:ea typeface="Aptos"/>
                <a:cs typeface="Aptos"/>
              </a:rPr>
              <a:t>Ethical AI for field guide education</a:t>
            </a:r>
          </a:p>
        </p:txBody>
      </p:sp>
      <p:sp>
        <p:nvSpPr>
          <p:cNvPr id="18" name="">
            <a:extLst xmlns:a="http://schemas.openxmlformats.org/drawingml/2006/main">
              <a:ext uri="{FF2B5EF4-FFF2-40B4-BE49-F238E27FC236}">
                <a16:creationId xmlns:a16="http://schemas.microsoft.com/office/drawing/2014/main" id="{ED1BB20B-C665-49DA-B895-D495231AAA13}"/>
              </a:ext>
            </a:extLst>
          </p:cNvPr>
          <p:cNvSpPr>
            <a:spLocks xmlns:a="http://schemas.openxmlformats.org/drawingml/2006/main" noGrp="1"/>
          </p:cNvSpPr>
          <p:nvPr/>
        </p:nvSpPr>
        <p:spPr>
          <a:xfrm xmlns:a="http://schemas.openxmlformats.org/drawingml/2006/main">
            <a:off x="11049000" y="6477000"/>
            <a:ext cx="495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lgn="r">
              <a:defRPr sz="750" b="0">
                <a:solidFill>
                  <a:srgbClr val="5C676F"/>
                </a:solidFill>
                <a:latin typeface="Aptos"/>
                <a:ea typeface="Aptos"/>
                <a:cs typeface="Aptos"/>
              </a:defRPr>
            </a:pPr>
            <a:r>
              <a:rPr sz="750" b="0">
                <a:solidFill>
                  <a:srgbClr val="5C676F"/>
                </a:solidFill>
                <a:latin typeface="Aptos"/>
                <a:ea typeface="Aptos"/>
                <a:cs typeface="Aptos"/>
              </a:rPr>
              <a:t>07</a:t>
            </a:r>
          </a:p>
        </p:txBody>
      </p:sp>
    </p:spTree>
    <p:extLst>
      <p:ext uri="{BB962C8B-B14F-4D97-AF65-F5344CB8AC3E}">
        <p14:creationId xmlns:p14="http://schemas.microsoft.com/office/powerpoint/2010/main" val="1201187536"/>
      </p:ext>
    </p:extLst>
  </p:cSld>
</p:sld>
</file>

<file path=ppt/slides/slide8.xml><?xml version="1.0" encoding="utf-8"?>
<p:sld xmlns:p="http://schemas.openxmlformats.org/presentationml/2006/main">
  <p:cSld>
    <p:bg>
      <p:bgPr>
        <a:solidFill xmlns:a="http://schemas.openxmlformats.org/drawingml/2006/main">
          <a:srgbClr val="102B3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2D66004-F0A0-470E-8CA8-57A4044471C2}"/>
              </a:ext>
            </a:extLst>
          </p:cNvPr>
          <p:cNvSpPr>
            <a:spLocks xmlns:a="http://schemas.openxmlformats.org/drawingml/2006/main" noGrp="1"/>
          </p:cNvSpPr>
          <p:nvPr/>
        </p:nvSpPr>
        <p:spPr>
          <a:xfrm xmlns:a="http://schemas.openxmlformats.org/drawingml/2006/main">
            <a:off x="666750" y="5524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700" b="1">
                <a:solidFill>
                  <a:srgbClr val="FFFFFF"/>
                </a:solidFill>
                <a:latin typeface="Aptos Display"/>
                <a:ea typeface="Aptos Display"/>
                <a:cs typeface="Aptos Display"/>
              </a:defRPr>
            </a:pPr>
            <a:r>
              <a:rPr sz="2700" b="1">
                <a:solidFill>
                  <a:srgbClr val="FFFFFF"/>
                </a:solidFill>
                <a:latin typeface="Aptos Display"/>
                <a:ea typeface="Aptos Display"/>
                <a:cs typeface="Aptos Display"/>
              </a:rPr>
              <a:t>Useful feedback needs more than a number</a:t>
            </a:r>
          </a:p>
        </p:txBody>
      </p:sp>
      <p:sp>
        <p:nvSpPr>
          <p:cNvPr id="2" name="">
            <a:extLst xmlns:a="http://schemas.openxmlformats.org/drawingml/2006/main">
              <a:ext uri="{FF2B5EF4-FFF2-40B4-BE49-F238E27FC236}">
                <a16:creationId xmlns:a16="http://schemas.microsoft.com/office/drawing/2014/main" id="{80BF8648-A0F7-4EC0-98D7-16ECEAF3DB5D}"/>
              </a:ext>
            </a:extLst>
          </p:cNvPr>
          <p:cNvSpPr>
            <a:spLocks xmlns:a="http://schemas.openxmlformats.org/drawingml/2006/main" noGrp="1"/>
          </p:cNvSpPr>
          <p:nvPr/>
        </p:nvSpPr>
        <p:spPr>
          <a:xfrm xmlns:a="http://schemas.openxmlformats.org/drawingml/2006/main">
            <a:off x="685800" y="1428750"/>
            <a:ext cx="571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C9D8E1"/>
                </a:solidFill>
                <a:latin typeface="Aptos"/>
                <a:ea typeface="Aptos"/>
                <a:cs typeface="Aptos"/>
              </a:defRPr>
            </a:pPr>
            <a:r>
              <a:rPr sz="1650" b="0">
                <a:solidFill>
                  <a:srgbClr val="C9D8E1"/>
                </a:solidFill>
                <a:latin typeface="Aptos"/>
                <a:ea typeface="Aptos"/>
                <a:cs typeface="Aptos"/>
              </a:rPr>
              <a:t>A strong suggestion helps the instructor see</a:t>
            </a:r>
          </a:p>
        </p:txBody>
      </p:sp>
      <p:sp>
        <p:nvSpPr>
          <p:cNvPr id="3" name="">
            <a:extLst xmlns:a="http://schemas.openxmlformats.org/drawingml/2006/main">
              <a:ext uri="{FF2B5EF4-FFF2-40B4-BE49-F238E27FC236}">
                <a16:creationId xmlns:a16="http://schemas.microsoft.com/office/drawing/2014/main" id="{38BDA92B-92B0-4215-927A-F01A8200E473}"/>
              </a:ext>
            </a:extLst>
          </p:cNvPr>
          <p:cNvSpPr>
            <a:spLocks xmlns:a="http://schemas.openxmlformats.org/drawingml/2006/main" noGrp="1"/>
          </p:cNvSpPr>
          <p:nvPr/>
        </p:nvSpPr>
        <p:spPr>
          <a:xfrm xmlns:a="http://schemas.openxmlformats.org/drawingml/2006/main">
            <a:off x="876300" y="2133600"/>
            <a:ext cx="676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9BB35C"/>
                </a:solidFill>
                <a:latin typeface="Aptos"/>
                <a:ea typeface="Aptos"/>
                <a:cs typeface="Aptos"/>
              </a:defRPr>
            </a:pPr>
            <a:r>
              <a:rPr sz="2175" b="1">
                <a:solidFill>
                  <a:srgbClr val="9BB35C"/>
                </a:solidFill>
                <a:latin typeface="Aptos"/>
                <a:ea typeface="Aptos"/>
                <a:cs typeface="Aptos"/>
              </a:rPr>
              <a:t>Evidence used</a:t>
            </a:r>
          </a:p>
        </p:txBody>
      </p:sp>
      <p:sp>
        <p:nvSpPr>
          <p:cNvPr id="4" name="">
            <a:extLst xmlns:a="http://schemas.openxmlformats.org/drawingml/2006/main">
              <a:ext uri="{FF2B5EF4-FFF2-40B4-BE49-F238E27FC236}">
                <a16:creationId xmlns:a16="http://schemas.microsoft.com/office/drawing/2014/main" id="{91E87E69-66B3-457D-81EA-B0A4B2D17C4D}"/>
              </a:ext>
            </a:extLst>
          </p:cNvPr>
          <p:cNvSpPr>
            <a:spLocks xmlns:a="http://schemas.openxmlformats.org/drawingml/2006/main" noGrp="1"/>
          </p:cNvSpPr>
          <p:nvPr/>
        </p:nvSpPr>
        <p:spPr>
          <a:xfrm xmlns:a="http://schemas.openxmlformats.org/drawingml/2006/main">
            <a:off x="876300" y="2857500"/>
            <a:ext cx="676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74B5D4"/>
                </a:solidFill>
                <a:latin typeface="Aptos"/>
                <a:ea typeface="Aptos"/>
                <a:cs typeface="Aptos"/>
              </a:defRPr>
            </a:pPr>
            <a:r>
              <a:rPr sz="2175" b="1">
                <a:solidFill>
                  <a:srgbClr val="74B5D4"/>
                </a:solidFill>
                <a:latin typeface="Aptos"/>
                <a:ea typeface="Aptos"/>
                <a:cs typeface="Aptos"/>
              </a:rPr>
              <a:t>Specific strengths</a:t>
            </a:r>
          </a:p>
        </p:txBody>
      </p:sp>
      <p:sp>
        <p:nvSpPr>
          <p:cNvPr id="5" name="">
            <a:extLst xmlns:a="http://schemas.openxmlformats.org/drawingml/2006/main">
              <a:ext uri="{FF2B5EF4-FFF2-40B4-BE49-F238E27FC236}">
                <a16:creationId xmlns:a16="http://schemas.microsoft.com/office/drawing/2014/main" id="{DFD58EEF-D790-4E83-8D1C-C08F65211ABF}"/>
              </a:ext>
            </a:extLst>
          </p:cNvPr>
          <p:cNvSpPr>
            <a:spLocks xmlns:a="http://schemas.openxmlformats.org/drawingml/2006/main" noGrp="1"/>
          </p:cNvSpPr>
          <p:nvPr/>
        </p:nvSpPr>
        <p:spPr>
          <a:xfrm xmlns:a="http://schemas.openxmlformats.org/drawingml/2006/main">
            <a:off x="876300" y="3581400"/>
            <a:ext cx="676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D59A3A"/>
                </a:solidFill>
                <a:latin typeface="Aptos"/>
                <a:ea typeface="Aptos"/>
                <a:cs typeface="Aptos"/>
              </a:defRPr>
            </a:pPr>
            <a:r>
              <a:rPr sz="2175" b="1">
                <a:solidFill>
                  <a:srgbClr val="D59A3A"/>
                </a:solidFill>
                <a:latin typeface="Aptos"/>
                <a:ea typeface="Aptos"/>
                <a:cs typeface="Aptos"/>
              </a:rPr>
              <a:t>Suggested improvements</a:t>
            </a:r>
          </a:p>
        </p:txBody>
      </p:sp>
      <p:sp>
        <p:nvSpPr>
          <p:cNvPr id="6" name="">
            <a:extLst xmlns:a="http://schemas.openxmlformats.org/drawingml/2006/main">
              <a:ext uri="{FF2B5EF4-FFF2-40B4-BE49-F238E27FC236}">
                <a16:creationId xmlns:a16="http://schemas.microsoft.com/office/drawing/2014/main" id="{3C37FF1C-436A-481E-967A-072DA701C52D}"/>
              </a:ext>
            </a:extLst>
          </p:cNvPr>
          <p:cNvSpPr>
            <a:spLocks xmlns:a="http://schemas.openxmlformats.org/drawingml/2006/main" noGrp="1"/>
          </p:cNvSpPr>
          <p:nvPr/>
        </p:nvSpPr>
        <p:spPr>
          <a:xfrm xmlns:a="http://schemas.openxmlformats.org/drawingml/2006/main">
            <a:off x="876300" y="4305300"/>
            <a:ext cx="676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175" b="1">
                <a:solidFill>
                  <a:srgbClr val="D8CBBE"/>
                </a:solidFill>
                <a:latin typeface="Aptos"/>
                <a:ea typeface="Aptos"/>
                <a:cs typeface="Aptos"/>
              </a:defRPr>
            </a:pPr>
            <a:r>
              <a:rPr sz="2175" b="1">
                <a:solidFill>
                  <a:srgbClr val="D8CBBE"/>
                </a:solidFill>
                <a:latin typeface="Aptos"/>
                <a:ea typeface="Aptos"/>
                <a:cs typeface="Aptos"/>
              </a:rPr>
              <a:t>Questions for human judgement</a:t>
            </a:r>
          </a:p>
        </p:txBody>
      </p:sp>
      <p:sp>
        <p:nvSpPr>
          <p:cNvPr id="7" name="">
            <a:extLst xmlns:a="http://schemas.openxmlformats.org/drawingml/2006/main">
              <a:ext uri="{FF2B5EF4-FFF2-40B4-BE49-F238E27FC236}">
                <a16:creationId xmlns:a16="http://schemas.microsoft.com/office/drawing/2014/main" id="{64BA2B2D-3302-440E-9620-033656B21EB1}"/>
              </a:ext>
            </a:extLst>
          </p:cNvPr>
          <p:cNvSpPr>
            <a:spLocks xmlns:a="http://schemas.openxmlformats.org/drawingml/2006/main" noGrp="1"/>
          </p:cNvSpPr>
          <p:nvPr/>
        </p:nvSpPr>
        <p:spPr>
          <a:xfrm xmlns:a="http://schemas.openxmlformats.org/drawingml/2006/main">
            <a:off x="7124700" y="2095500"/>
            <a:ext cx="390525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75" b="0">
                <a:solidFill>
                  <a:srgbClr val="FFFFFF"/>
                </a:solidFill>
                <a:latin typeface="Aptos"/>
                <a:ea typeface="Aptos"/>
                <a:cs typeface="Aptos"/>
              </a:defRPr>
            </a:pPr>
            <a:r>
              <a:rPr sz="2175" b="0">
                <a:solidFill>
                  <a:srgbClr val="FFFFFF"/>
                </a:solidFill>
                <a:latin typeface="Aptos"/>
                <a:ea typeface="Aptos"/>
                <a:cs typeface="Aptos"/>
              </a:rPr>
              <a:t>The instructor turns that draft into feedback that fits the student, the task and the field context.</a:t>
            </a:r>
          </a:p>
        </p:txBody>
      </p:sp>
      <p:sp>
        <p:nvSpPr>
          <p:cNvPr id="8" name="">
            <a:extLst xmlns:a="http://schemas.openxmlformats.org/drawingml/2006/main">
              <a:ext uri="{FF2B5EF4-FFF2-40B4-BE49-F238E27FC236}">
                <a16:creationId xmlns:a16="http://schemas.microsoft.com/office/drawing/2014/main" id="{2BF5CC30-1FE8-4922-9198-5705E6F78FAE}"/>
              </a:ext>
            </a:extLst>
          </p:cNvPr>
          <p:cNvSpPr>
            <a:spLocks xmlns:a="http://schemas.openxmlformats.org/drawingml/2006/main" noGrp="1"/>
          </p:cNvSpPr>
          <p:nvPr/>
        </p:nvSpPr>
        <p:spPr>
          <a:xfrm xmlns:a="http://schemas.openxmlformats.org/drawingml/2006/main">
            <a:off x="7124700" y="4543425"/>
            <a:ext cx="3143250" cy="57150"/>
          </a:xfrm>
          <a:prstGeom xmlns:a="http://schemas.openxmlformats.org/drawingml/2006/main" prst="rect">
            <a:avLst/>
          </a:prstGeom>
          <a:solidFill xmlns:a="http://schemas.openxmlformats.org/drawingml/2006/main">
            <a:srgbClr val="9BB35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399E4F9-0024-4DDC-8968-4BACA4956AA5}"/>
              </a:ext>
            </a:extLst>
          </p:cNvPr>
          <p:cNvSpPr>
            <a:spLocks xmlns:a="http://schemas.openxmlformats.org/drawingml/2006/main" noGrp="1"/>
          </p:cNvSpPr>
          <p:nvPr/>
        </p:nvSpPr>
        <p:spPr>
          <a:xfrm xmlns:a="http://schemas.openxmlformats.org/drawingml/2006/main">
            <a:off x="7124700" y="4810125"/>
            <a:ext cx="381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DDE8DD"/>
                </a:solidFill>
                <a:latin typeface="Aptos"/>
                <a:ea typeface="Aptos"/>
                <a:cs typeface="Aptos"/>
              </a:defRPr>
            </a:pPr>
            <a:r>
              <a:rPr sz="1575" b="1">
                <a:solidFill>
                  <a:srgbClr val="DDE8DD"/>
                </a:solidFill>
                <a:latin typeface="Aptos"/>
                <a:ea typeface="Aptos"/>
                <a:cs typeface="Aptos"/>
              </a:rPr>
              <a:t>Feedback remains editable before it enters the record</a:t>
            </a:r>
          </a:p>
        </p:txBody>
      </p:sp>
      <p:sp>
        <p:nvSpPr>
          <p:cNvPr id="10" name="">
            <a:extLst xmlns:a="http://schemas.openxmlformats.org/drawingml/2006/main">
              <a:ext uri="{FF2B5EF4-FFF2-40B4-BE49-F238E27FC236}">
                <a16:creationId xmlns:a16="http://schemas.microsoft.com/office/drawing/2014/main" id="{4767E686-25B0-4CCB-89BC-5BB9C085CFED}"/>
              </a:ext>
            </a:extLst>
          </p:cNvPr>
          <p:cNvSpPr>
            <a:spLocks xmlns:a="http://schemas.openxmlformats.org/drawingml/2006/main" noGrp="1"/>
          </p:cNvSpPr>
          <p:nvPr/>
        </p:nvSpPr>
        <p:spPr>
          <a:xfrm xmlns:a="http://schemas.openxmlformats.org/drawingml/2006/main">
            <a:off x="647700" y="64770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lgn="l">
              <a:defRPr sz="750" b="0">
                <a:solidFill>
                  <a:srgbClr val="5C676F"/>
                </a:solidFill>
                <a:latin typeface="Aptos"/>
                <a:ea typeface="Aptos"/>
                <a:cs typeface="Aptos"/>
              </a:defRPr>
            </a:pPr>
            <a:r>
              <a:rPr sz="750" b="0">
                <a:solidFill>
                  <a:srgbClr val="5C676F"/>
                </a:solidFill>
                <a:latin typeface="Aptos"/>
                <a:ea typeface="Aptos"/>
                <a:cs typeface="Aptos"/>
              </a:rPr>
              <a:t>Ethical AI for field guide education</a:t>
            </a:r>
          </a:p>
        </p:txBody>
      </p:sp>
      <p:sp>
        <p:nvSpPr>
          <p:cNvPr id="11" name="">
            <a:extLst xmlns:a="http://schemas.openxmlformats.org/drawingml/2006/main">
              <a:ext uri="{FF2B5EF4-FFF2-40B4-BE49-F238E27FC236}">
                <a16:creationId xmlns:a16="http://schemas.microsoft.com/office/drawing/2014/main" id="{C471B321-497B-421E-A87D-3EC463A618DD}"/>
              </a:ext>
            </a:extLst>
          </p:cNvPr>
          <p:cNvSpPr>
            <a:spLocks xmlns:a="http://schemas.openxmlformats.org/drawingml/2006/main" noGrp="1"/>
          </p:cNvSpPr>
          <p:nvPr/>
        </p:nvSpPr>
        <p:spPr>
          <a:xfrm xmlns:a="http://schemas.openxmlformats.org/drawingml/2006/main">
            <a:off x="11049000" y="6477000"/>
            <a:ext cx="495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lgn="r">
              <a:defRPr sz="750" b="0">
                <a:solidFill>
                  <a:srgbClr val="5C676F"/>
                </a:solidFill>
                <a:latin typeface="Aptos"/>
                <a:ea typeface="Aptos"/>
                <a:cs typeface="Aptos"/>
              </a:defRPr>
            </a:pPr>
            <a:r>
              <a:rPr sz="750" b="0">
                <a:solidFill>
                  <a:srgbClr val="5C676F"/>
                </a:solidFill>
                <a:latin typeface="Aptos"/>
                <a:ea typeface="Aptos"/>
                <a:cs typeface="Aptos"/>
              </a:rPr>
              <a:t>08</a:t>
            </a:r>
          </a:p>
        </p:txBody>
      </p:sp>
    </p:spTree>
    <p:extLst>
      <p:ext uri="{BB962C8B-B14F-4D97-AF65-F5344CB8AC3E}">
        <p14:creationId xmlns:p14="http://schemas.microsoft.com/office/powerpoint/2010/main" val="74074893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bbaf23440464ca7"/>
          <a:srcRect xmlns:a="http://schemas.openxmlformats.org/drawingml/2006/main" l="23033" t="0" r="23033" b="0"/>
          <a:stretch xmlns:a="http://schemas.openxmlformats.org/drawingml/2006/main">
            <a:fillRect l="0" t="0" r="0" b="0"/>
          </a:stretch>
        </p:blipFill>
        <p:spPr>
          <a:xfrm xmlns:a="http://schemas.openxmlformats.org/drawingml/2006/main">
            <a:off x="0" y="0"/>
            <a:ext cx="6572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29D7ECB-3085-43E4-8CB9-92EF78C11DA2}"/>
              </a:ext>
            </a:extLst>
          </p:cNvPr>
          <p:cNvSpPr>
            <a:spLocks xmlns:a="http://schemas.openxmlformats.org/drawingml/2006/main" noGrp="1"/>
          </p:cNvSpPr>
          <p:nvPr/>
        </p:nvSpPr>
        <p:spPr>
          <a:xfrm xmlns:a="http://schemas.openxmlformats.org/drawingml/2006/main">
            <a:off x="6991350" y="552450"/>
            <a:ext cx="45148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550" b="1">
                <a:solidFill>
                  <a:srgbClr val="102B3F"/>
                </a:solidFill>
                <a:latin typeface="Aptos Display"/>
                <a:ea typeface="Aptos Display"/>
                <a:cs typeface="Aptos Display"/>
              </a:defRPr>
            </a:pPr>
            <a:r>
              <a:rPr sz="2550" b="1">
                <a:solidFill>
                  <a:srgbClr val="102B3F"/>
                </a:solidFill>
                <a:latin typeface="Aptos Display"/>
                <a:ea typeface="Aptos Display"/>
                <a:cs typeface="Aptos Display"/>
              </a:rPr>
              <a:t>Trust also depends on reliable operations</a:t>
            </a:r>
          </a:p>
        </p:txBody>
      </p:sp>
      <p:sp>
        <p:nvSpPr>
          <p:cNvPr id="3" name="">
            <a:extLst xmlns:a="http://schemas.openxmlformats.org/drawingml/2006/main">
              <a:ext uri="{FF2B5EF4-FFF2-40B4-BE49-F238E27FC236}">
                <a16:creationId xmlns:a16="http://schemas.microsoft.com/office/drawing/2014/main" id="{591E4431-46CE-43F4-A86B-CF790F5D0EBC}"/>
              </a:ext>
            </a:extLst>
          </p:cNvPr>
          <p:cNvSpPr>
            <a:spLocks xmlns:a="http://schemas.openxmlformats.org/drawingml/2006/main" noGrp="1"/>
          </p:cNvSpPr>
          <p:nvPr/>
        </p:nvSpPr>
        <p:spPr>
          <a:xfrm xmlns:a="http://schemas.openxmlformats.org/drawingml/2006/main">
            <a:off x="7067550" y="2066925"/>
            <a:ext cx="114300" cy="114300"/>
          </a:xfrm>
          <a:prstGeom xmlns:a="http://schemas.openxmlformats.org/drawingml/2006/main" prst="roundRect">
            <a:avLst>
              <a:gd name="adj" fmla="val 50000"/>
            </a:avLst>
          </a:prstGeom>
          <a:solidFill xmlns:a="http://schemas.openxmlformats.org/drawingml/2006/main">
            <a:srgbClr val="3B664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25406BD-EDE8-4644-AA55-9F1B20AB662A}"/>
              </a:ext>
            </a:extLst>
          </p:cNvPr>
          <p:cNvSpPr>
            <a:spLocks xmlns:a="http://schemas.openxmlformats.org/drawingml/2006/main" noGrp="1"/>
          </p:cNvSpPr>
          <p:nvPr/>
        </p:nvSpPr>
        <p:spPr>
          <a:xfrm xmlns:a="http://schemas.openxmlformats.org/drawingml/2006/main">
            <a:off x="7353300" y="1981200"/>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l">
              <a:defRPr sz="1650" b="1">
                <a:solidFill>
                  <a:srgbClr val="102B3F"/>
                </a:solidFill>
                <a:latin typeface="Aptos"/>
                <a:ea typeface="Aptos"/>
                <a:cs typeface="Aptos"/>
              </a:defRPr>
            </a:pPr>
            <a:r>
              <a:rPr sz="1650" b="1">
                <a:solidFill>
                  <a:srgbClr val="102B3F"/>
                </a:solidFill>
                <a:latin typeface="Aptos"/>
                <a:ea typeface="Aptos"/>
                <a:cs typeface="Aptos"/>
              </a:rPr>
              <a:t>Queued and resumable</a:t>
            </a:r>
          </a:p>
        </p:txBody>
      </p:sp>
      <p:sp>
        <p:nvSpPr>
          <p:cNvPr id="5" name="">
            <a:extLst xmlns:a="http://schemas.openxmlformats.org/drawingml/2006/main">
              <a:ext uri="{FF2B5EF4-FFF2-40B4-BE49-F238E27FC236}">
                <a16:creationId xmlns:a16="http://schemas.microsoft.com/office/drawing/2014/main" id="{375C6AFD-A267-4AE5-9429-7AB6DA225F8B}"/>
              </a:ext>
            </a:extLst>
          </p:cNvPr>
          <p:cNvSpPr>
            <a:spLocks xmlns:a="http://schemas.openxmlformats.org/drawingml/2006/main" noGrp="1"/>
          </p:cNvSpPr>
          <p:nvPr/>
        </p:nvSpPr>
        <p:spPr>
          <a:xfrm xmlns:a="http://schemas.openxmlformats.org/drawingml/2006/main">
            <a:off x="7353300" y="232410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C676F"/>
                </a:solidFill>
                <a:latin typeface="Aptos"/>
                <a:ea typeface="Aptos"/>
                <a:cs typeface="Aptos"/>
              </a:defRPr>
            </a:pPr>
            <a:r>
              <a:rPr sz="1350" b="0">
                <a:solidFill>
                  <a:srgbClr val="5C676F"/>
                </a:solidFill>
                <a:latin typeface="Aptos"/>
                <a:ea typeface="Aptos"/>
                <a:cs typeface="Aptos"/>
              </a:rPr>
              <a:t>Preparation continues outside the browser and survives ordinary interruptions.</a:t>
            </a:r>
          </a:p>
        </p:txBody>
      </p:sp>
      <p:sp>
        <p:nvSpPr>
          <p:cNvPr id="6" name="">
            <a:extLst xmlns:a="http://schemas.openxmlformats.org/drawingml/2006/main">
              <a:ext uri="{FF2B5EF4-FFF2-40B4-BE49-F238E27FC236}">
                <a16:creationId xmlns:a16="http://schemas.microsoft.com/office/drawing/2014/main" id="{E6B7CD70-4AAF-4E41-B4A4-2A7671613F3D}"/>
              </a:ext>
            </a:extLst>
          </p:cNvPr>
          <p:cNvSpPr>
            <a:spLocks xmlns:a="http://schemas.openxmlformats.org/drawingml/2006/main" noGrp="1"/>
          </p:cNvSpPr>
          <p:nvPr/>
        </p:nvSpPr>
        <p:spPr>
          <a:xfrm xmlns:a="http://schemas.openxmlformats.org/drawingml/2006/main">
            <a:off x="7067550" y="3400425"/>
            <a:ext cx="114300" cy="114300"/>
          </a:xfrm>
          <a:prstGeom xmlns:a="http://schemas.openxmlformats.org/drawingml/2006/main" prst="roundRect">
            <a:avLst>
              <a:gd name="adj" fmla="val 50000"/>
            </a:avLst>
          </a:prstGeom>
          <a:solidFill xmlns:a="http://schemas.openxmlformats.org/drawingml/2006/main">
            <a:srgbClr val="176B9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B8381A6-2A78-4106-8848-2A85F295E603}"/>
              </a:ext>
            </a:extLst>
          </p:cNvPr>
          <p:cNvSpPr>
            <a:spLocks xmlns:a="http://schemas.openxmlformats.org/drawingml/2006/main" noGrp="1"/>
          </p:cNvSpPr>
          <p:nvPr/>
        </p:nvSpPr>
        <p:spPr>
          <a:xfrm xmlns:a="http://schemas.openxmlformats.org/drawingml/2006/main">
            <a:off x="7353300" y="3314700"/>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l">
              <a:defRPr sz="1650" b="1">
                <a:solidFill>
                  <a:srgbClr val="102B3F"/>
                </a:solidFill>
                <a:latin typeface="Aptos"/>
                <a:ea typeface="Aptos"/>
                <a:cs typeface="Aptos"/>
              </a:defRPr>
            </a:pPr>
            <a:r>
              <a:rPr sz="1650" b="1">
                <a:solidFill>
                  <a:srgbClr val="102B3F"/>
                </a:solidFill>
                <a:latin typeface="Aptos"/>
                <a:ea typeface="Aptos"/>
                <a:cs typeface="Aptos"/>
              </a:rPr>
              <a:t>Provider neutral</a:t>
            </a:r>
          </a:p>
        </p:txBody>
      </p:sp>
      <p:sp>
        <p:nvSpPr>
          <p:cNvPr id="8" name="">
            <a:extLst xmlns:a="http://schemas.openxmlformats.org/drawingml/2006/main">
              <a:ext uri="{FF2B5EF4-FFF2-40B4-BE49-F238E27FC236}">
                <a16:creationId xmlns:a16="http://schemas.microsoft.com/office/drawing/2014/main" id="{B1E663DB-6A84-439D-AD94-D9158DBFC066}"/>
              </a:ext>
            </a:extLst>
          </p:cNvPr>
          <p:cNvSpPr>
            <a:spLocks xmlns:a="http://schemas.openxmlformats.org/drawingml/2006/main" noGrp="1"/>
          </p:cNvSpPr>
          <p:nvPr/>
        </p:nvSpPr>
        <p:spPr>
          <a:xfrm xmlns:a="http://schemas.openxmlformats.org/drawingml/2006/main">
            <a:off x="7353300" y="365760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C676F"/>
                </a:solidFill>
                <a:latin typeface="Aptos"/>
                <a:ea typeface="Aptos"/>
                <a:cs typeface="Aptos"/>
              </a:defRPr>
            </a:pPr>
            <a:r>
              <a:rPr sz="1350" b="0">
                <a:solidFill>
                  <a:srgbClr val="5C676F"/>
                </a:solidFill>
                <a:latin typeface="Aptos"/>
                <a:ea typeface="Aptos"/>
                <a:cs typeface="Aptos"/>
              </a:rPr>
              <a:t>Modules use one AI service boundary rather than embedding a vendor throughout teaching workflows.</a:t>
            </a:r>
          </a:p>
        </p:txBody>
      </p:sp>
      <p:sp>
        <p:nvSpPr>
          <p:cNvPr id="9" name="">
            <a:extLst xmlns:a="http://schemas.openxmlformats.org/drawingml/2006/main">
              <a:ext uri="{FF2B5EF4-FFF2-40B4-BE49-F238E27FC236}">
                <a16:creationId xmlns:a16="http://schemas.microsoft.com/office/drawing/2014/main" id="{1594FCB9-CE21-4FE9-8152-8FB4B6E7DD92}"/>
              </a:ext>
            </a:extLst>
          </p:cNvPr>
          <p:cNvSpPr>
            <a:spLocks xmlns:a="http://schemas.openxmlformats.org/drawingml/2006/main" noGrp="1"/>
          </p:cNvSpPr>
          <p:nvPr/>
        </p:nvSpPr>
        <p:spPr>
          <a:xfrm xmlns:a="http://schemas.openxmlformats.org/drawingml/2006/main">
            <a:off x="7067550" y="4733925"/>
            <a:ext cx="114300" cy="114300"/>
          </a:xfrm>
          <a:prstGeom xmlns:a="http://schemas.openxmlformats.org/drawingml/2006/main" prst="roundRect">
            <a:avLst>
              <a:gd name="adj" fmla="val 50000"/>
            </a:avLst>
          </a:prstGeom>
          <a:solidFill xmlns:a="http://schemas.openxmlformats.org/drawingml/2006/main">
            <a:srgbClr val="64453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B762253-5525-414A-9FC4-6115ED865B2A}"/>
              </a:ext>
            </a:extLst>
          </p:cNvPr>
          <p:cNvSpPr>
            <a:spLocks xmlns:a="http://schemas.openxmlformats.org/drawingml/2006/main" noGrp="1"/>
          </p:cNvSpPr>
          <p:nvPr/>
        </p:nvSpPr>
        <p:spPr>
          <a:xfrm xmlns:a="http://schemas.openxmlformats.org/drawingml/2006/main">
            <a:off x="7353300" y="4648200"/>
            <a:ext cx="381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l">
              <a:defRPr sz="1650" b="1">
                <a:solidFill>
                  <a:srgbClr val="102B3F"/>
                </a:solidFill>
                <a:latin typeface="Aptos"/>
                <a:ea typeface="Aptos"/>
                <a:cs typeface="Aptos"/>
              </a:defRPr>
            </a:pPr>
            <a:r>
              <a:rPr sz="1650" b="1">
                <a:solidFill>
                  <a:srgbClr val="102B3F"/>
                </a:solidFill>
                <a:latin typeface="Aptos"/>
                <a:ea typeface="Aptos"/>
                <a:cs typeface="Aptos"/>
              </a:rPr>
              <a:t>Reviewable records</a:t>
            </a:r>
          </a:p>
        </p:txBody>
      </p:sp>
      <p:sp>
        <p:nvSpPr>
          <p:cNvPr id="11" name="">
            <a:extLst xmlns:a="http://schemas.openxmlformats.org/drawingml/2006/main">
              <a:ext uri="{FF2B5EF4-FFF2-40B4-BE49-F238E27FC236}">
                <a16:creationId xmlns:a16="http://schemas.microsoft.com/office/drawing/2014/main" id="{4B8FE01B-005A-41AF-ADEC-CDD4DB3BB3F3}"/>
              </a:ext>
            </a:extLst>
          </p:cNvPr>
          <p:cNvSpPr>
            <a:spLocks xmlns:a="http://schemas.openxmlformats.org/drawingml/2006/main" noGrp="1"/>
          </p:cNvSpPr>
          <p:nvPr/>
        </p:nvSpPr>
        <p:spPr>
          <a:xfrm xmlns:a="http://schemas.openxmlformats.org/drawingml/2006/main">
            <a:off x="7353300" y="499110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C676F"/>
                </a:solidFill>
                <a:latin typeface="Aptos"/>
                <a:ea typeface="Aptos"/>
                <a:cs typeface="Aptos"/>
              </a:defRPr>
            </a:pPr>
            <a:r>
              <a:rPr sz="1350" b="0">
                <a:solidFill>
                  <a:srgbClr val="5C676F"/>
                </a:solidFill>
                <a:latin typeface="Aptos"/>
                <a:ea typeface="Aptos"/>
                <a:cs typeface="Aptos"/>
              </a:rPr>
              <a:t>The saved instructor decision remains distinct from the earlier AI suggestion.</a:t>
            </a:r>
          </a:p>
        </p:txBody>
      </p:sp>
      <p:sp>
        <p:nvSpPr>
          <p:cNvPr id="12" name="">
            <a:extLst xmlns:a="http://schemas.openxmlformats.org/drawingml/2006/main">
              <a:ext uri="{FF2B5EF4-FFF2-40B4-BE49-F238E27FC236}">
                <a16:creationId xmlns:a16="http://schemas.microsoft.com/office/drawing/2014/main" id="{6D5664BB-9C0F-4613-8235-1BF33F709B8E}"/>
              </a:ext>
            </a:extLst>
          </p:cNvPr>
          <p:cNvSpPr>
            <a:spLocks xmlns:a="http://schemas.openxmlformats.org/drawingml/2006/main" noGrp="1"/>
          </p:cNvSpPr>
          <p:nvPr/>
        </p:nvSpPr>
        <p:spPr>
          <a:xfrm xmlns:a="http://schemas.openxmlformats.org/drawingml/2006/main">
            <a:off x="647700" y="64770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lgn="l">
              <a:defRPr sz="750" b="0">
                <a:solidFill>
                  <a:srgbClr val="5C676F"/>
                </a:solidFill>
                <a:latin typeface="Aptos"/>
                <a:ea typeface="Aptos"/>
                <a:cs typeface="Aptos"/>
              </a:defRPr>
            </a:pPr>
            <a:r>
              <a:rPr sz="750" b="0">
                <a:solidFill>
                  <a:srgbClr val="5C676F"/>
                </a:solidFill>
                <a:latin typeface="Aptos"/>
                <a:ea typeface="Aptos"/>
                <a:cs typeface="Aptos"/>
              </a:rPr>
              <a:t>Ethical AI for field guide education</a:t>
            </a:r>
          </a:p>
        </p:txBody>
      </p:sp>
      <p:sp>
        <p:nvSpPr>
          <p:cNvPr id="13" name="">
            <a:extLst xmlns:a="http://schemas.openxmlformats.org/drawingml/2006/main">
              <a:ext uri="{FF2B5EF4-FFF2-40B4-BE49-F238E27FC236}">
                <a16:creationId xmlns:a16="http://schemas.microsoft.com/office/drawing/2014/main" id="{67C01B5D-5450-4222-B672-FB32B0782A9E}"/>
              </a:ext>
            </a:extLst>
          </p:cNvPr>
          <p:cNvSpPr>
            <a:spLocks xmlns:a="http://schemas.openxmlformats.org/drawingml/2006/main" noGrp="1"/>
          </p:cNvSpPr>
          <p:nvPr/>
        </p:nvSpPr>
        <p:spPr>
          <a:xfrm xmlns:a="http://schemas.openxmlformats.org/drawingml/2006/main">
            <a:off x="11049000" y="6477000"/>
            <a:ext cx="495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lgn="r">
              <a:defRPr sz="750" b="0">
                <a:solidFill>
                  <a:srgbClr val="5C676F"/>
                </a:solidFill>
                <a:latin typeface="Aptos"/>
                <a:ea typeface="Aptos"/>
                <a:cs typeface="Aptos"/>
              </a:defRPr>
            </a:pPr>
            <a:r>
              <a:rPr sz="750" b="0">
                <a:solidFill>
                  <a:srgbClr val="5C676F"/>
                </a:solidFill>
                <a:latin typeface="Aptos"/>
                <a:ea typeface="Aptos"/>
                <a:cs typeface="Aptos"/>
              </a:rPr>
              <a:t>09</a:t>
            </a:r>
          </a:p>
        </p:txBody>
      </p:sp>
    </p:spTree>
    <p:extLst>
      <p:ext uri="{BB962C8B-B14F-4D97-AF65-F5344CB8AC3E}">
        <p14:creationId xmlns:p14="http://schemas.microsoft.com/office/powerpoint/2010/main" val="53153072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126ffea463943e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0F20A82-BD8C-4337-AD5A-1C36ECD670C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4A7E023-EED4-4EC3-B13B-201A2DC43A63}"/>
              </a:ext>
            </a:extLst>
          </p:cNvPr>
          <p:cNvSpPr>
            <a:spLocks xmlns:a="http://schemas.openxmlformats.org/drawingml/2006/main" noGrp="1"/>
          </p:cNvSpPr>
          <p:nvPr/>
        </p:nvSpPr>
        <p:spPr>
          <a:xfrm xmlns:a="http://schemas.openxmlformats.org/drawingml/2006/main">
            <a:off x="685800" y="704850"/>
            <a:ext cx="542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FFFFFF"/>
                </a:solidFill>
                <a:latin typeface="Aptos Display"/>
                <a:ea typeface="Aptos Display"/>
                <a:cs typeface="Aptos Display"/>
              </a:defRPr>
            </a:pPr>
            <a:r>
              <a:rPr sz="2850" b="1">
                <a:solidFill>
                  <a:srgbClr val="FFFFFF"/>
                </a:solidFill>
                <a:latin typeface="Aptos Display"/>
                <a:ea typeface="Aptos Display"/>
                <a:cs typeface="Aptos Display"/>
              </a:rPr>
              <a:t>Time returned to instruction</a:t>
            </a:r>
          </a:p>
        </p:txBody>
      </p:sp>
      <p:sp>
        <p:nvSpPr>
          <p:cNvPr id="4" name="">
            <a:extLst xmlns:a="http://schemas.openxmlformats.org/drawingml/2006/main">
              <a:ext uri="{FF2B5EF4-FFF2-40B4-BE49-F238E27FC236}">
                <a16:creationId xmlns:a16="http://schemas.microsoft.com/office/drawing/2014/main" id="{58D1E4CB-E197-4F88-8E56-2FBBA275199F}"/>
              </a:ext>
            </a:extLst>
          </p:cNvPr>
          <p:cNvSpPr>
            <a:spLocks xmlns:a="http://schemas.openxmlformats.org/drawingml/2006/main" noGrp="1"/>
          </p:cNvSpPr>
          <p:nvPr/>
        </p:nvSpPr>
        <p:spPr>
          <a:xfrm xmlns:a="http://schemas.openxmlformats.org/drawingml/2006/main">
            <a:off x="742950" y="1790700"/>
            <a:ext cx="5048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75" b="0">
                <a:solidFill>
                  <a:srgbClr val="FFFFFF"/>
                </a:solidFill>
                <a:latin typeface="Aptos"/>
                <a:ea typeface="Aptos"/>
                <a:cs typeface="Aptos"/>
              </a:defRPr>
            </a:pPr>
            <a:r>
              <a:rPr sz="2175" b="0">
                <a:solidFill>
                  <a:srgbClr val="FFFFFF"/>
                </a:solidFill>
                <a:latin typeface="Aptos"/>
                <a:ea typeface="Aptos"/>
                <a:cs typeface="Aptos"/>
              </a:rPr>
              <a:t>more observation in the field</a:t>
            </a:r>
          </a:p>
          <a:p xmlns:a="http://schemas.openxmlformats.org/drawingml/2006/main">
            <a:pPr algn="l">
              <a:defRPr sz="2175" b="0">
                <a:solidFill>
                  <a:srgbClr val="FFFFFF"/>
                </a:solidFill>
                <a:latin typeface="Aptos"/>
                <a:ea typeface="Aptos"/>
                <a:cs typeface="Aptos"/>
              </a:defRPr>
            </a:pPr>
            <a:r>
              <a:rPr sz="2175" b="0">
                <a:solidFill>
                  <a:srgbClr val="FFFFFF"/>
                </a:solidFill>
                <a:latin typeface="Aptos"/>
                <a:ea typeface="Aptos"/>
                <a:cs typeface="Aptos"/>
              </a:rPr>
              <a:t>more discussion of misconceptions</a:t>
            </a:r>
          </a:p>
          <a:p xmlns:a="http://schemas.openxmlformats.org/drawingml/2006/main">
            <a:pPr algn="l">
              <a:defRPr sz="2175" b="0">
                <a:solidFill>
                  <a:srgbClr val="FFFFFF"/>
                </a:solidFill>
                <a:latin typeface="Aptos"/>
                <a:ea typeface="Aptos"/>
                <a:cs typeface="Aptos"/>
              </a:defRPr>
            </a:pPr>
            <a:r>
              <a:rPr sz="2175" b="0">
                <a:solidFill>
                  <a:srgbClr val="FFFFFF"/>
                </a:solidFill>
                <a:latin typeface="Aptos"/>
                <a:ea typeface="Aptos"/>
                <a:cs typeface="Aptos"/>
              </a:rPr>
              <a:t>more individual coaching</a:t>
            </a:r>
          </a:p>
          <a:p xmlns:a="http://schemas.openxmlformats.org/drawingml/2006/main">
            <a:pPr algn="l">
              <a:defRPr sz="2175" b="0">
                <a:solidFill>
                  <a:srgbClr val="FFFFFF"/>
                </a:solidFill>
                <a:latin typeface="Aptos"/>
                <a:ea typeface="Aptos"/>
                <a:cs typeface="Aptos"/>
              </a:defRPr>
            </a:pPr>
            <a:r>
              <a:rPr sz="2175" b="0">
                <a:solidFill>
                  <a:srgbClr val="FFFFFF"/>
                </a:solidFill>
                <a:latin typeface="Aptos"/>
                <a:ea typeface="Aptos"/>
                <a:cs typeface="Aptos"/>
              </a:rPr>
              <a:t>more thoughtful final feedback</a:t>
            </a:r>
          </a:p>
        </p:txBody>
      </p:sp>
      <p:sp>
        <p:nvSpPr>
          <p:cNvPr id="5" name="">
            <a:extLst xmlns:a="http://schemas.openxmlformats.org/drawingml/2006/main">
              <a:ext uri="{FF2B5EF4-FFF2-40B4-BE49-F238E27FC236}">
                <a16:creationId xmlns:a16="http://schemas.microsoft.com/office/drawing/2014/main" id="{2521E360-D41A-4B49-BAF8-2CCEDAB5AE07}"/>
              </a:ext>
            </a:extLst>
          </p:cNvPr>
          <p:cNvSpPr>
            <a:spLocks xmlns:a="http://schemas.openxmlformats.org/drawingml/2006/main" noGrp="1"/>
          </p:cNvSpPr>
          <p:nvPr/>
        </p:nvSpPr>
        <p:spPr>
          <a:xfrm xmlns:a="http://schemas.openxmlformats.org/drawingml/2006/main">
            <a:off x="742950" y="4762500"/>
            <a:ext cx="990600" cy="57150"/>
          </a:xfrm>
          <a:prstGeom xmlns:a="http://schemas.openxmlformats.org/drawingml/2006/main" prst="rect">
            <a:avLst/>
          </a:prstGeom>
          <a:solidFill xmlns:a="http://schemas.openxmlformats.org/drawingml/2006/main">
            <a:srgbClr val="9BB35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2C9A45F-E331-4775-AC20-CD42C428137E}"/>
              </a:ext>
            </a:extLst>
          </p:cNvPr>
          <p:cNvSpPr>
            <a:spLocks xmlns:a="http://schemas.openxmlformats.org/drawingml/2006/main" noGrp="1"/>
          </p:cNvSpPr>
          <p:nvPr/>
        </p:nvSpPr>
        <p:spPr>
          <a:xfrm xmlns:a="http://schemas.openxmlformats.org/drawingml/2006/main">
            <a:off x="742950" y="5010150"/>
            <a:ext cx="5334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EAF1E8"/>
                </a:solidFill>
                <a:latin typeface="Aptos"/>
                <a:ea typeface="Aptos"/>
                <a:cs typeface="Aptos"/>
              </a:defRPr>
            </a:pPr>
            <a:r>
              <a:rPr sz="1650" b="1">
                <a:solidFill>
                  <a:srgbClr val="EAF1E8"/>
                </a:solidFill>
                <a:latin typeface="Aptos"/>
                <a:ea typeface="Aptos"/>
                <a:cs typeface="Aptos"/>
              </a:rPr>
              <a:t>The benefit appears in the teaching relationship</a:t>
            </a:r>
          </a:p>
        </p:txBody>
      </p:sp>
      <p:sp>
        <p:nvSpPr>
          <p:cNvPr id="7" name="">
            <a:extLst xmlns:a="http://schemas.openxmlformats.org/drawingml/2006/main">
              <a:ext uri="{FF2B5EF4-FFF2-40B4-BE49-F238E27FC236}">
                <a16:creationId xmlns:a16="http://schemas.microsoft.com/office/drawing/2014/main" id="{A697F55C-B918-45AB-A7C9-AA6667890ACC}"/>
              </a:ext>
            </a:extLst>
          </p:cNvPr>
          <p:cNvSpPr>
            <a:spLocks xmlns:a="http://schemas.openxmlformats.org/drawingml/2006/main" noGrp="1"/>
          </p:cNvSpPr>
          <p:nvPr/>
        </p:nvSpPr>
        <p:spPr>
          <a:xfrm xmlns:a="http://schemas.openxmlformats.org/drawingml/2006/main">
            <a:off x="647700" y="64770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lgn="l">
              <a:defRPr sz="750" b="0">
                <a:solidFill>
                  <a:srgbClr val="5C676F"/>
                </a:solidFill>
                <a:latin typeface="Aptos"/>
                <a:ea typeface="Aptos"/>
                <a:cs typeface="Aptos"/>
              </a:defRPr>
            </a:pPr>
            <a:r>
              <a:rPr sz="750" b="0">
                <a:solidFill>
                  <a:srgbClr val="5C676F"/>
                </a:solidFill>
                <a:latin typeface="Aptos"/>
                <a:ea typeface="Aptos"/>
                <a:cs typeface="Aptos"/>
              </a:rPr>
              <a:t>Ethical AI for field guide education</a:t>
            </a:r>
          </a:p>
        </p:txBody>
      </p:sp>
      <p:sp>
        <p:nvSpPr>
          <p:cNvPr id="8" name="">
            <a:extLst xmlns:a="http://schemas.openxmlformats.org/drawingml/2006/main">
              <a:ext uri="{FF2B5EF4-FFF2-40B4-BE49-F238E27FC236}">
                <a16:creationId xmlns:a16="http://schemas.microsoft.com/office/drawing/2014/main" id="{AC6ADBB4-5AC0-4245-BF80-B32BAE1A91C2}"/>
              </a:ext>
            </a:extLst>
          </p:cNvPr>
          <p:cNvSpPr>
            <a:spLocks xmlns:a="http://schemas.openxmlformats.org/drawingml/2006/main" noGrp="1"/>
          </p:cNvSpPr>
          <p:nvPr/>
        </p:nvSpPr>
        <p:spPr>
          <a:xfrm xmlns:a="http://schemas.openxmlformats.org/drawingml/2006/main">
            <a:off x="11049000" y="6477000"/>
            <a:ext cx="495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lgn="r">
              <a:defRPr sz="750" b="0">
                <a:solidFill>
                  <a:srgbClr val="5C676F"/>
                </a:solidFill>
                <a:latin typeface="Aptos"/>
                <a:ea typeface="Aptos"/>
                <a:cs typeface="Aptos"/>
              </a:defRPr>
            </a:pPr>
            <a:r>
              <a:rPr sz="750" b="0">
                <a:solidFill>
                  <a:srgbClr val="5C676F"/>
                </a:solidFill>
                <a:latin typeface="Aptos"/>
                <a:ea typeface="Aptos"/>
                <a:cs typeface="Aptos"/>
              </a:rPr>
              <a:t>10</a:t>
            </a:r>
          </a:p>
        </p:txBody>
      </p:sp>
    </p:spTree>
    <p:extLst>
      <p:ext uri="{BB962C8B-B14F-4D97-AF65-F5344CB8AC3E}">
        <p14:creationId xmlns:p14="http://schemas.microsoft.com/office/powerpoint/2010/main" val="276457543"/>
      </p:ext>
    </p:extLst>
  </p:cSld>
</p:sld>
</file>

<file path=ppt/slides/slide11.xml><?xml version="1.0" encoding="utf-8"?>
<p:sld xmlns:p="http://schemas.openxmlformats.org/presentationml/2006/main">
  <p:cSld>
    <p:bg>
      <p:bgPr>
        <a:solidFill xmlns:a="http://schemas.openxmlformats.org/drawingml/2006/main">
          <a:srgbClr val="F6F5E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21A727C-61B5-4ED1-9BD1-A77FA9DFF49F}"/>
              </a:ext>
            </a:extLst>
          </p:cNvPr>
          <p:cNvSpPr>
            <a:spLocks xmlns:a="http://schemas.openxmlformats.org/drawingml/2006/main" noGrp="1"/>
          </p:cNvSpPr>
          <p:nvPr/>
        </p:nvSpPr>
        <p:spPr>
          <a:xfrm xmlns:a="http://schemas.openxmlformats.org/drawingml/2006/main">
            <a:off x="647700" y="400050"/>
            <a:ext cx="609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3B6641"/>
                </a:solidFill>
                <a:latin typeface="Aptos"/>
                <a:ea typeface="Aptos"/>
                <a:cs typeface="Aptos"/>
              </a:defRPr>
            </a:pPr>
            <a:r>
              <a:rPr sz="975" b="1">
                <a:solidFill>
                  <a:srgbClr val="3B6641"/>
                </a:solidFill>
                <a:latin typeface="Aptos"/>
                <a:ea typeface="Aptos"/>
                <a:cs typeface="Aptos"/>
              </a:rPr>
              <a:t>ADOPTION</a:t>
            </a:r>
          </a:p>
        </p:txBody>
      </p:sp>
      <p:sp>
        <p:nvSpPr>
          <p:cNvPr id="2" name="">
            <a:extLst xmlns:a="http://schemas.openxmlformats.org/drawingml/2006/main">
              <a:ext uri="{FF2B5EF4-FFF2-40B4-BE49-F238E27FC236}">
                <a16:creationId xmlns:a16="http://schemas.microsoft.com/office/drawing/2014/main" id="{8C333166-15A8-45F9-B827-30DC67DCFFF7}"/>
              </a:ext>
            </a:extLst>
          </p:cNvPr>
          <p:cNvSpPr>
            <a:spLocks xmlns:a="http://schemas.openxmlformats.org/drawingml/2006/main" noGrp="1"/>
          </p:cNvSpPr>
          <p:nvPr/>
        </p:nvSpPr>
        <p:spPr>
          <a:xfrm xmlns:a="http://schemas.openxmlformats.org/drawingml/2006/main">
            <a:off x="647700" y="6667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02B3F"/>
                </a:solidFill>
                <a:latin typeface="Aptos Display"/>
                <a:ea typeface="Aptos Display"/>
                <a:cs typeface="Aptos Display"/>
              </a:defRPr>
            </a:pPr>
            <a:r>
              <a:rPr sz="2550" b="1">
                <a:solidFill>
                  <a:srgbClr val="102B3F"/>
                </a:solidFill>
                <a:latin typeface="Aptos Display"/>
                <a:ea typeface="Aptos Display"/>
                <a:cs typeface="Aptos Display"/>
              </a:rPr>
              <a:t>A careful route into everyday use</a:t>
            </a:r>
          </a:p>
        </p:txBody>
      </p:sp>
      <p:sp>
        <p:nvSpPr>
          <p:cNvPr id="3" name="">
            <a:extLst xmlns:a="http://schemas.openxmlformats.org/drawingml/2006/main">
              <a:ext uri="{FF2B5EF4-FFF2-40B4-BE49-F238E27FC236}">
                <a16:creationId xmlns:a16="http://schemas.microsoft.com/office/drawing/2014/main" id="{F6BA1876-F4BE-4F34-A5AA-0E2EEE5F7E4A}"/>
              </a:ext>
            </a:extLst>
          </p:cNvPr>
          <p:cNvSpPr>
            <a:spLocks xmlns:a="http://schemas.openxmlformats.org/drawingml/2006/main" noGrp="1"/>
          </p:cNvSpPr>
          <p:nvPr/>
        </p:nvSpPr>
        <p:spPr>
          <a:xfrm xmlns:a="http://schemas.openxmlformats.org/drawingml/2006/main">
            <a:off x="647700" y="1257300"/>
            <a:ext cx="742950" cy="47625"/>
          </a:xfrm>
          <a:prstGeom xmlns:a="http://schemas.openxmlformats.org/drawingml/2006/main" prst="rect">
            <a:avLst/>
          </a:prstGeom>
          <a:solidFill xmlns:a="http://schemas.openxmlformats.org/drawingml/2006/main">
            <a:srgbClr val="9BB35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CBBF044-0444-4010-8751-468336E5BD97}"/>
              </a:ext>
            </a:extLst>
          </p:cNvPr>
          <p:cNvSpPr>
            <a:spLocks xmlns:a="http://schemas.openxmlformats.org/drawingml/2006/main" noGrp="1"/>
          </p:cNvSpPr>
          <p:nvPr/>
        </p:nvSpPr>
        <p:spPr>
          <a:xfrm xmlns:a="http://schemas.openxmlformats.org/drawingml/2006/main">
            <a:off x="685800" y="1657350"/>
            <a:ext cx="457200" cy="457200"/>
          </a:xfrm>
          <a:prstGeom xmlns:a="http://schemas.openxmlformats.org/drawingml/2006/main" prst="roundRect">
            <a:avLst>
              <a:gd name="adj" fmla="val 50000"/>
            </a:avLst>
          </a:prstGeom>
          <a:solidFill xmlns:a="http://schemas.openxmlformats.org/drawingml/2006/main">
            <a:srgbClr val="3B664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6AB1CB7-9391-42EB-AC13-0AECA69AB224}"/>
              </a:ext>
            </a:extLst>
          </p:cNvPr>
          <p:cNvSpPr>
            <a:spLocks xmlns:a="http://schemas.openxmlformats.org/drawingml/2006/main" noGrp="1"/>
          </p:cNvSpPr>
          <p:nvPr/>
        </p:nvSpPr>
        <p:spPr>
          <a:xfrm xmlns:a="http://schemas.openxmlformats.org/drawingml/2006/main">
            <a:off x="685800" y="165735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6" name="">
            <a:extLst xmlns:a="http://schemas.openxmlformats.org/drawingml/2006/main">
              <a:ext uri="{FF2B5EF4-FFF2-40B4-BE49-F238E27FC236}">
                <a16:creationId xmlns:a16="http://schemas.microsoft.com/office/drawing/2014/main" id="{7B968523-CA50-473F-AE7F-C5DEA2A7B6FB}"/>
              </a:ext>
            </a:extLst>
          </p:cNvPr>
          <p:cNvSpPr>
            <a:spLocks xmlns:a="http://schemas.openxmlformats.org/drawingml/2006/main" noGrp="1"/>
          </p:cNvSpPr>
          <p:nvPr/>
        </p:nvSpPr>
        <p:spPr>
          <a:xfrm xmlns:a="http://schemas.openxmlformats.org/drawingml/2006/main">
            <a:off x="1409700" y="16383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02B3F"/>
                </a:solidFill>
                <a:latin typeface="Aptos"/>
                <a:ea typeface="Aptos"/>
                <a:cs typeface="Aptos"/>
              </a:defRPr>
            </a:pPr>
            <a:r>
              <a:rPr sz="1650" b="1">
                <a:solidFill>
                  <a:srgbClr val="102B3F"/>
                </a:solidFill>
                <a:latin typeface="Aptos"/>
                <a:ea typeface="Aptos"/>
                <a:cs typeface="Aptos"/>
              </a:rPr>
              <a:t>Approved capability</a:t>
            </a:r>
          </a:p>
        </p:txBody>
      </p:sp>
      <p:sp>
        <p:nvSpPr>
          <p:cNvPr id="7" name="">
            <a:extLst xmlns:a="http://schemas.openxmlformats.org/drawingml/2006/main">
              <a:ext uri="{FF2B5EF4-FFF2-40B4-BE49-F238E27FC236}">
                <a16:creationId xmlns:a16="http://schemas.microsoft.com/office/drawing/2014/main" id="{F52F7A53-CCB0-4B88-A73B-FC2D42929C63}"/>
              </a:ext>
            </a:extLst>
          </p:cNvPr>
          <p:cNvSpPr>
            <a:spLocks xmlns:a="http://schemas.openxmlformats.org/drawingml/2006/main" noGrp="1"/>
          </p:cNvSpPr>
          <p:nvPr/>
        </p:nvSpPr>
        <p:spPr>
          <a:xfrm xmlns:a="http://schemas.openxmlformats.org/drawingml/2006/main">
            <a:off x="1409700" y="2000250"/>
            <a:ext cx="9258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C676F"/>
                </a:solidFill>
                <a:latin typeface="Aptos"/>
                <a:ea typeface="Aptos"/>
                <a:cs typeface="Aptos"/>
              </a:defRPr>
            </a:pPr>
            <a:r>
              <a:rPr sz="1350" b="0">
                <a:solidFill>
                  <a:srgbClr val="5C676F"/>
                </a:solidFill>
                <a:latin typeface="Aptos"/>
                <a:ea typeface="Aptos"/>
                <a:cs typeface="Aptos"/>
              </a:rPr>
              <a:t>Administrators enable a tested module only after it is ready for production use.</a:t>
            </a:r>
          </a:p>
        </p:txBody>
      </p:sp>
      <p:sp>
        <p:nvSpPr>
          <p:cNvPr id="8" name="">
            <a:extLst xmlns:a="http://schemas.openxmlformats.org/drawingml/2006/main">
              <a:ext uri="{FF2B5EF4-FFF2-40B4-BE49-F238E27FC236}">
                <a16:creationId xmlns:a16="http://schemas.microsoft.com/office/drawing/2014/main" id="{AA06DF38-D3AE-4552-81E7-47F03E05C1B9}"/>
              </a:ext>
            </a:extLst>
          </p:cNvPr>
          <p:cNvSpPr>
            <a:spLocks xmlns:a="http://schemas.openxmlformats.org/drawingml/2006/main" noGrp="1"/>
          </p:cNvSpPr>
          <p:nvPr/>
        </p:nvSpPr>
        <p:spPr>
          <a:xfrm xmlns:a="http://schemas.openxmlformats.org/drawingml/2006/main">
            <a:off x="685800" y="2724150"/>
            <a:ext cx="457200" cy="457200"/>
          </a:xfrm>
          <a:prstGeom xmlns:a="http://schemas.openxmlformats.org/drawingml/2006/main" prst="roundRect">
            <a:avLst>
              <a:gd name="adj" fmla="val 50000"/>
            </a:avLst>
          </a:prstGeom>
          <a:solidFill xmlns:a="http://schemas.openxmlformats.org/drawingml/2006/main">
            <a:srgbClr val="3B664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9752927-9676-484B-82B5-0C2424032DFF}"/>
              </a:ext>
            </a:extLst>
          </p:cNvPr>
          <p:cNvSpPr>
            <a:spLocks xmlns:a="http://schemas.openxmlformats.org/drawingml/2006/main" noGrp="1"/>
          </p:cNvSpPr>
          <p:nvPr/>
        </p:nvSpPr>
        <p:spPr>
          <a:xfrm xmlns:a="http://schemas.openxmlformats.org/drawingml/2006/main">
            <a:off x="685800" y="272415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6501911B-7149-42C1-B86B-D7D9D86674E3}"/>
              </a:ext>
            </a:extLst>
          </p:cNvPr>
          <p:cNvSpPr>
            <a:spLocks xmlns:a="http://schemas.openxmlformats.org/drawingml/2006/main" noGrp="1"/>
          </p:cNvSpPr>
          <p:nvPr/>
        </p:nvSpPr>
        <p:spPr>
          <a:xfrm xmlns:a="http://schemas.openxmlformats.org/drawingml/2006/main">
            <a:off x="1409700" y="27051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02B3F"/>
                </a:solidFill>
                <a:latin typeface="Aptos"/>
                <a:ea typeface="Aptos"/>
                <a:cs typeface="Aptos"/>
              </a:defRPr>
            </a:pPr>
            <a:r>
              <a:rPr sz="1650" b="1">
                <a:solidFill>
                  <a:srgbClr val="102B3F"/>
                </a:solidFill>
                <a:latin typeface="Aptos"/>
                <a:ea typeface="Aptos"/>
                <a:cs typeface="Aptos"/>
              </a:rPr>
              <a:t>Suitable task</a:t>
            </a:r>
          </a:p>
        </p:txBody>
      </p:sp>
      <p:sp>
        <p:nvSpPr>
          <p:cNvPr id="11" name="">
            <a:extLst xmlns:a="http://schemas.openxmlformats.org/drawingml/2006/main">
              <a:ext uri="{FF2B5EF4-FFF2-40B4-BE49-F238E27FC236}">
                <a16:creationId xmlns:a16="http://schemas.microsoft.com/office/drawing/2014/main" id="{E3C1DA1B-DBDE-410B-A866-10F618598B3C}"/>
              </a:ext>
            </a:extLst>
          </p:cNvPr>
          <p:cNvSpPr>
            <a:spLocks xmlns:a="http://schemas.openxmlformats.org/drawingml/2006/main" noGrp="1"/>
          </p:cNvSpPr>
          <p:nvPr/>
        </p:nvSpPr>
        <p:spPr>
          <a:xfrm xmlns:a="http://schemas.openxmlformats.org/drawingml/2006/main">
            <a:off x="1409700" y="3067050"/>
            <a:ext cx="9258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C676F"/>
                </a:solidFill>
                <a:latin typeface="Aptos"/>
                <a:ea typeface="Aptos"/>
                <a:cs typeface="Aptos"/>
              </a:defRPr>
            </a:pPr>
            <a:r>
              <a:rPr sz="1350" b="0">
                <a:solidFill>
                  <a:srgbClr val="5C676F"/>
                </a:solidFill>
                <a:latin typeface="Aptos"/>
                <a:ea typeface="Aptos"/>
                <a:cs typeface="Aptos"/>
              </a:rPr>
              <a:t>The instructor chooses AI support where the evidence and rubric make review practical.</a:t>
            </a:r>
          </a:p>
        </p:txBody>
      </p:sp>
      <p:sp>
        <p:nvSpPr>
          <p:cNvPr id="12" name="">
            <a:extLst xmlns:a="http://schemas.openxmlformats.org/drawingml/2006/main">
              <a:ext uri="{FF2B5EF4-FFF2-40B4-BE49-F238E27FC236}">
                <a16:creationId xmlns:a16="http://schemas.microsoft.com/office/drawing/2014/main" id="{DF69D61F-AB0D-4663-9A30-190C9B64D971}"/>
              </a:ext>
            </a:extLst>
          </p:cNvPr>
          <p:cNvSpPr>
            <a:spLocks xmlns:a="http://schemas.openxmlformats.org/drawingml/2006/main" noGrp="1"/>
          </p:cNvSpPr>
          <p:nvPr/>
        </p:nvSpPr>
        <p:spPr>
          <a:xfrm xmlns:a="http://schemas.openxmlformats.org/drawingml/2006/main">
            <a:off x="685800" y="3790950"/>
            <a:ext cx="457200" cy="457200"/>
          </a:xfrm>
          <a:prstGeom xmlns:a="http://schemas.openxmlformats.org/drawingml/2006/main" prst="roundRect">
            <a:avLst>
              <a:gd name="adj" fmla="val 50000"/>
            </a:avLst>
          </a:prstGeom>
          <a:solidFill xmlns:a="http://schemas.openxmlformats.org/drawingml/2006/main">
            <a:srgbClr val="3B664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216E157-5AC4-4E4F-86C1-B21F7F9A792C}"/>
              </a:ext>
            </a:extLst>
          </p:cNvPr>
          <p:cNvSpPr>
            <a:spLocks xmlns:a="http://schemas.openxmlformats.org/drawingml/2006/main" noGrp="1"/>
          </p:cNvSpPr>
          <p:nvPr/>
        </p:nvSpPr>
        <p:spPr>
          <a:xfrm xmlns:a="http://schemas.openxmlformats.org/drawingml/2006/main">
            <a:off x="685800" y="379095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71746EF1-63EA-4404-A2A0-326ED14B54F8}"/>
              </a:ext>
            </a:extLst>
          </p:cNvPr>
          <p:cNvSpPr>
            <a:spLocks xmlns:a="http://schemas.openxmlformats.org/drawingml/2006/main" noGrp="1"/>
          </p:cNvSpPr>
          <p:nvPr/>
        </p:nvSpPr>
        <p:spPr>
          <a:xfrm xmlns:a="http://schemas.openxmlformats.org/drawingml/2006/main">
            <a:off x="1409700" y="37719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02B3F"/>
                </a:solidFill>
                <a:latin typeface="Aptos"/>
                <a:ea typeface="Aptos"/>
                <a:cs typeface="Aptos"/>
              </a:defRPr>
            </a:pPr>
            <a:r>
              <a:rPr sz="1650" b="1">
                <a:solidFill>
                  <a:srgbClr val="102B3F"/>
                </a:solidFill>
                <a:latin typeface="Aptos"/>
                <a:ea typeface="Aptos"/>
                <a:cs typeface="Aptos"/>
              </a:rPr>
              <a:t>Human review</a:t>
            </a:r>
          </a:p>
        </p:txBody>
      </p:sp>
      <p:sp>
        <p:nvSpPr>
          <p:cNvPr id="15" name="">
            <a:extLst xmlns:a="http://schemas.openxmlformats.org/drawingml/2006/main">
              <a:ext uri="{FF2B5EF4-FFF2-40B4-BE49-F238E27FC236}">
                <a16:creationId xmlns:a16="http://schemas.microsoft.com/office/drawing/2014/main" id="{CBB01874-6812-452D-B077-3D059C1BC3DB}"/>
              </a:ext>
            </a:extLst>
          </p:cNvPr>
          <p:cNvSpPr>
            <a:spLocks xmlns:a="http://schemas.openxmlformats.org/drawingml/2006/main" noGrp="1"/>
          </p:cNvSpPr>
          <p:nvPr/>
        </p:nvSpPr>
        <p:spPr>
          <a:xfrm xmlns:a="http://schemas.openxmlformats.org/drawingml/2006/main">
            <a:off x="1409700" y="4133850"/>
            <a:ext cx="9258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C676F"/>
                </a:solidFill>
                <a:latin typeface="Aptos"/>
                <a:ea typeface="Aptos"/>
                <a:cs typeface="Aptos"/>
              </a:defRPr>
            </a:pPr>
            <a:r>
              <a:rPr sz="1350" b="0">
                <a:solidFill>
                  <a:srgbClr val="5C676F"/>
                </a:solidFill>
                <a:latin typeface="Aptos"/>
                <a:ea typeface="Aptos"/>
                <a:cs typeface="Aptos"/>
              </a:rPr>
              <a:t>The instructor checks every suggestion and retains a manual route.</a:t>
            </a:r>
          </a:p>
        </p:txBody>
      </p:sp>
      <p:sp>
        <p:nvSpPr>
          <p:cNvPr id="16" name="">
            <a:extLst xmlns:a="http://schemas.openxmlformats.org/drawingml/2006/main">
              <a:ext uri="{FF2B5EF4-FFF2-40B4-BE49-F238E27FC236}">
                <a16:creationId xmlns:a16="http://schemas.microsoft.com/office/drawing/2014/main" id="{770C30AA-FEA5-4D7E-956E-9968B10E9178}"/>
              </a:ext>
            </a:extLst>
          </p:cNvPr>
          <p:cNvSpPr>
            <a:spLocks xmlns:a="http://schemas.openxmlformats.org/drawingml/2006/main" noGrp="1"/>
          </p:cNvSpPr>
          <p:nvPr/>
        </p:nvSpPr>
        <p:spPr>
          <a:xfrm xmlns:a="http://schemas.openxmlformats.org/drawingml/2006/main">
            <a:off x="685800" y="4857750"/>
            <a:ext cx="457200" cy="457200"/>
          </a:xfrm>
          <a:prstGeom xmlns:a="http://schemas.openxmlformats.org/drawingml/2006/main" prst="roundRect">
            <a:avLst>
              <a:gd name="adj" fmla="val 50000"/>
            </a:avLst>
          </a:prstGeom>
          <a:solidFill xmlns:a="http://schemas.openxmlformats.org/drawingml/2006/main">
            <a:srgbClr val="64453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B6C9C18-A17E-44F3-A022-4D65AABE56C0}"/>
              </a:ext>
            </a:extLst>
          </p:cNvPr>
          <p:cNvSpPr>
            <a:spLocks xmlns:a="http://schemas.openxmlformats.org/drawingml/2006/main" noGrp="1"/>
          </p:cNvSpPr>
          <p:nvPr/>
        </p:nvSpPr>
        <p:spPr>
          <a:xfrm xmlns:a="http://schemas.openxmlformats.org/drawingml/2006/main">
            <a:off x="685800" y="4857750"/>
            <a:ext cx="457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4</a:t>
            </a:r>
          </a:p>
        </p:txBody>
      </p:sp>
      <p:sp>
        <p:nvSpPr>
          <p:cNvPr id="18" name="">
            <a:extLst xmlns:a="http://schemas.openxmlformats.org/drawingml/2006/main">
              <a:ext uri="{FF2B5EF4-FFF2-40B4-BE49-F238E27FC236}">
                <a16:creationId xmlns:a16="http://schemas.microsoft.com/office/drawing/2014/main" id="{79F84A54-3D25-4DC1-8BA4-4A49377FE3DC}"/>
              </a:ext>
            </a:extLst>
          </p:cNvPr>
          <p:cNvSpPr>
            <a:spLocks xmlns:a="http://schemas.openxmlformats.org/drawingml/2006/main" noGrp="1"/>
          </p:cNvSpPr>
          <p:nvPr/>
        </p:nvSpPr>
        <p:spPr>
          <a:xfrm xmlns:a="http://schemas.openxmlformats.org/drawingml/2006/main">
            <a:off x="1409700" y="4838700"/>
            <a:ext cx="295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02B3F"/>
                </a:solidFill>
                <a:latin typeface="Aptos"/>
                <a:ea typeface="Aptos"/>
                <a:cs typeface="Aptos"/>
              </a:defRPr>
            </a:pPr>
            <a:r>
              <a:rPr sz="1650" b="1">
                <a:solidFill>
                  <a:srgbClr val="102B3F"/>
                </a:solidFill>
                <a:latin typeface="Aptos"/>
                <a:ea typeface="Aptos"/>
                <a:cs typeface="Aptos"/>
              </a:rPr>
              <a:t>Operational learning</a:t>
            </a:r>
          </a:p>
        </p:txBody>
      </p:sp>
      <p:sp>
        <p:nvSpPr>
          <p:cNvPr id="19" name="">
            <a:extLst xmlns:a="http://schemas.openxmlformats.org/drawingml/2006/main">
              <a:ext uri="{FF2B5EF4-FFF2-40B4-BE49-F238E27FC236}">
                <a16:creationId xmlns:a16="http://schemas.microsoft.com/office/drawing/2014/main" id="{25782DEF-9EB6-4837-9429-3A3F158901B2}"/>
              </a:ext>
            </a:extLst>
          </p:cNvPr>
          <p:cNvSpPr>
            <a:spLocks xmlns:a="http://schemas.openxmlformats.org/drawingml/2006/main" noGrp="1"/>
          </p:cNvSpPr>
          <p:nvPr/>
        </p:nvSpPr>
        <p:spPr>
          <a:xfrm xmlns:a="http://schemas.openxmlformats.org/drawingml/2006/main">
            <a:off x="1409700" y="5200650"/>
            <a:ext cx="9258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C676F"/>
                </a:solidFill>
                <a:latin typeface="Aptos"/>
                <a:ea typeface="Aptos"/>
                <a:cs typeface="Aptos"/>
              </a:defRPr>
            </a:pPr>
            <a:r>
              <a:rPr sz="1350" b="0">
                <a:solidFill>
                  <a:srgbClr val="5C676F"/>
                </a:solidFill>
                <a:latin typeface="Aptos"/>
                <a:ea typeface="Aptos"/>
                <a:cs typeface="Aptos"/>
              </a:rPr>
              <a:t>Teams watch failures, confusing outcomes and the actual effect on teaching time.</a:t>
            </a:r>
          </a:p>
        </p:txBody>
      </p:sp>
      <p:sp>
        <p:nvSpPr>
          <p:cNvPr id="20" name="">
            <a:extLst xmlns:a="http://schemas.openxmlformats.org/drawingml/2006/main">
              <a:ext uri="{FF2B5EF4-FFF2-40B4-BE49-F238E27FC236}">
                <a16:creationId xmlns:a16="http://schemas.microsoft.com/office/drawing/2014/main" id="{90B217CD-27C5-4933-A911-DE461E52DEAA}"/>
              </a:ext>
            </a:extLst>
          </p:cNvPr>
          <p:cNvSpPr>
            <a:spLocks xmlns:a="http://schemas.openxmlformats.org/drawingml/2006/main" noGrp="1"/>
          </p:cNvSpPr>
          <p:nvPr/>
        </p:nvSpPr>
        <p:spPr>
          <a:xfrm xmlns:a="http://schemas.openxmlformats.org/drawingml/2006/main">
            <a:off x="1028700" y="5943600"/>
            <a:ext cx="10134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3B6641"/>
                </a:solidFill>
                <a:latin typeface="Aptos"/>
                <a:ea typeface="Aptos"/>
                <a:cs typeface="Aptos"/>
              </a:defRPr>
            </a:pPr>
            <a:r>
              <a:rPr sz="1725" b="1">
                <a:solidFill>
                  <a:srgbClr val="3B6641"/>
                </a:solidFill>
                <a:latin typeface="Aptos"/>
                <a:ea typeface="Aptos"/>
                <a:cs typeface="Aptos"/>
              </a:rPr>
              <a:t>Start with bounded tasks where an instructor can inspect the evidence</a:t>
            </a:r>
          </a:p>
        </p:txBody>
      </p:sp>
      <p:sp>
        <p:nvSpPr>
          <p:cNvPr id="21" name="">
            <a:extLst xmlns:a="http://schemas.openxmlformats.org/drawingml/2006/main">
              <a:ext uri="{FF2B5EF4-FFF2-40B4-BE49-F238E27FC236}">
                <a16:creationId xmlns:a16="http://schemas.microsoft.com/office/drawing/2014/main" id="{1E735F39-4ECD-48A2-A05E-79328F085D20}"/>
              </a:ext>
            </a:extLst>
          </p:cNvPr>
          <p:cNvSpPr>
            <a:spLocks xmlns:a="http://schemas.openxmlformats.org/drawingml/2006/main" noGrp="1"/>
          </p:cNvSpPr>
          <p:nvPr/>
        </p:nvSpPr>
        <p:spPr>
          <a:xfrm xmlns:a="http://schemas.openxmlformats.org/drawingml/2006/main">
            <a:off x="647700" y="64770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lgn="l">
              <a:defRPr sz="750" b="0">
                <a:solidFill>
                  <a:srgbClr val="5C676F"/>
                </a:solidFill>
                <a:latin typeface="Aptos"/>
                <a:ea typeface="Aptos"/>
                <a:cs typeface="Aptos"/>
              </a:defRPr>
            </a:pPr>
            <a:r>
              <a:rPr sz="750" b="0">
                <a:solidFill>
                  <a:srgbClr val="5C676F"/>
                </a:solidFill>
                <a:latin typeface="Aptos"/>
                <a:ea typeface="Aptos"/>
                <a:cs typeface="Aptos"/>
              </a:rPr>
              <a:t>Ethical AI for field guide education</a:t>
            </a:r>
          </a:p>
        </p:txBody>
      </p:sp>
      <p:sp>
        <p:nvSpPr>
          <p:cNvPr id="22" name="">
            <a:extLst xmlns:a="http://schemas.openxmlformats.org/drawingml/2006/main">
              <a:ext uri="{FF2B5EF4-FFF2-40B4-BE49-F238E27FC236}">
                <a16:creationId xmlns:a16="http://schemas.microsoft.com/office/drawing/2014/main" id="{64B5103E-5741-4302-BF58-9FCD24FAF080}"/>
              </a:ext>
            </a:extLst>
          </p:cNvPr>
          <p:cNvSpPr>
            <a:spLocks xmlns:a="http://schemas.openxmlformats.org/drawingml/2006/main" noGrp="1"/>
          </p:cNvSpPr>
          <p:nvPr/>
        </p:nvSpPr>
        <p:spPr>
          <a:xfrm xmlns:a="http://schemas.openxmlformats.org/drawingml/2006/main">
            <a:off x="11049000" y="6477000"/>
            <a:ext cx="4953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000"/>
          </a:bodyPr>
          <a:lstStyle xmlns:a="http://schemas.openxmlformats.org/drawingml/2006/main"/>
          <a:p xmlns:a="http://schemas.openxmlformats.org/drawingml/2006/main">
            <a:pPr algn="r">
              <a:defRPr sz="750" b="0">
                <a:solidFill>
                  <a:srgbClr val="5C676F"/>
                </a:solidFill>
                <a:latin typeface="Aptos"/>
                <a:ea typeface="Aptos"/>
                <a:cs typeface="Aptos"/>
              </a:defRPr>
            </a:pPr>
            <a:r>
              <a:rPr sz="750" b="0">
                <a:solidFill>
                  <a:srgbClr val="5C676F"/>
                </a:solidFill>
                <a:latin typeface="Aptos"/>
                <a:ea typeface="Aptos"/>
                <a:cs typeface="Aptos"/>
              </a:rPr>
              <a:t>11</a:t>
            </a:r>
          </a:p>
        </p:txBody>
      </p:sp>
    </p:spTree>
    <p:extLst>
      <p:ext uri="{BB962C8B-B14F-4D97-AF65-F5344CB8AC3E}">
        <p14:creationId xmlns:p14="http://schemas.microsoft.com/office/powerpoint/2010/main" val="1585078178"/>
      </p:ext>
    </p:extLst>
  </p:cSld>
</p:sld>
</file>

<file path=ppt/slides/slide12.xml><?xml version="1.0" encoding="utf-8"?>
<p:sld xmlns:p="http://schemas.openxmlformats.org/presentationml/2006/main">
  <p:cSld>
    <p:bg>
      <p:bgPr>
        <a:solidFill xmlns:a="http://schemas.openxmlformats.org/drawingml/2006/main">
          <a:srgbClr val="3B664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CD64ADF-C923-4F46-A9CB-26CF093C6B29}"/>
              </a:ext>
            </a:extLst>
          </p:cNvPr>
          <p:cNvSpPr>
            <a:spLocks xmlns:a="http://schemas.openxmlformats.org/drawingml/2006/main" noGrp="1"/>
          </p:cNvSpPr>
          <p:nvPr/>
        </p:nvSpPr>
        <p:spPr>
          <a:xfrm xmlns:a="http://schemas.openxmlformats.org/drawingml/2006/main">
            <a:off x="1028700" y="857250"/>
            <a:ext cx="10134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850" b="1">
                <a:solidFill>
                  <a:srgbClr val="FFFFFF"/>
                </a:solidFill>
                <a:latin typeface="Aptos Display"/>
                <a:ea typeface="Aptos Display"/>
                <a:cs typeface="Aptos Display"/>
              </a:defRPr>
            </a:pPr>
            <a:r>
              <a:rPr sz="2850" b="1">
                <a:solidFill>
                  <a:srgbClr val="FFFFFF"/>
                </a:solidFill>
                <a:latin typeface="Aptos Display"/>
                <a:ea typeface="Aptos Display"/>
                <a:cs typeface="Aptos Display"/>
              </a:rPr>
              <a:t>The measure of success</a:t>
            </a:r>
          </a:p>
        </p:txBody>
      </p:sp>
      <p:sp>
        <p:nvSpPr>
          <p:cNvPr id="2" name="">
            <a:extLst xmlns:a="http://schemas.openxmlformats.org/drawingml/2006/main">
              <a:ext uri="{FF2B5EF4-FFF2-40B4-BE49-F238E27FC236}">
                <a16:creationId xmlns:a16="http://schemas.microsoft.com/office/drawing/2014/main" id="{C31B40F8-25AA-4182-A99A-55D97212B864}"/>
              </a:ext>
            </a:extLst>
          </p:cNvPr>
          <p:cNvSpPr>
            <a:spLocks xmlns:a="http://schemas.openxmlformats.org/drawingml/2006/main" noGrp="1"/>
          </p:cNvSpPr>
          <p:nvPr/>
        </p:nvSpPr>
        <p:spPr>
          <a:xfrm xmlns:a="http://schemas.openxmlformats.org/drawingml/2006/main">
            <a:off x="1028700" y="2247900"/>
            <a:ext cx="1013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550" b="1">
                <a:solidFill>
                  <a:srgbClr val="DDEBCB"/>
                </a:solidFill>
                <a:latin typeface="Aptos"/>
                <a:ea typeface="Aptos"/>
                <a:cs typeface="Aptos"/>
              </a:defRPr>
            </a:pPr>
            <a:r>
              <a:rPr sz="2550" b="1">
                <a:solidFill>
                  <a:srgbClr val="DDEBCB"/>
                </a:solidFill>
                <a:latin typeface="Aptos"/>
                <a:ea typeface="Aptos"/>
                <a:cs typeface="Aptos"/>
              </a:rPr>
              <a:t>Better teaching</a:t>
            </a:r>
          </a:p>
        </p:txBody>
      </p:sp>
      <p:sp>
        <p:nvSpPr>
          <p:cNvPr id="3" name="">
            <a:extLst xmlns:a="http://schemas.openxmlformats.org/drawingml/2006/main">
              <a:ext uri="{FF2B5EF4-FFF2-40B4-BE49-F238E27FC236}">
                <a16:creationId xmlns:a16="http://schemas.microsoft.com/office/drawing/2014/main" id="{6ABE9E17-6D5A-47E0-8732-F1A21D9766BB}"/>
              </a:ext>
            </a:extLst>
          </p:cNvPr>
          <p:cNvSpPr>
            <a:spLocks xmlns:a="http://schemas.openxmlformats.org/drawingml/2006/main" noGrp="1"/>
          </p:cNvSpPr>
          <p:nvPr/>
        </p:nvSpPr>
        <p:spPr>
          <a:xfrm xmlns:a="http://schemas.openxmlformats.org/drawingml/2006/main">
            <a:off x="1028700" y="3067050"/>
            <a:ext cx="1013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550" b="1">
                <a:solidFill>
                  <a:srgbClr val="DDEBCB"/>
                </a:solidFill>
                <a:latin typeface="Aptos"/>
                <a:ea typeface="Aptos"/>
                <a:cs typeface="Aptos"/>
              </a:defRPr>
            </a:pPr>
            <a:r>
              <a:rPr sz="2550" b="1">
                <a:solidFill>
                  <a:srgbClr val="DDEBCB"/>
                </a:solidFill>
                <a:latin typeface="Aptos"/>
                <a:ea typeface="Aptos"/>
                <a:cs typeface="Aptos"/>
              </a:rPr>
              <a:t>Clearer feedback</a:t>
            </a:r>
          </a:p>
        </p:txBody>
      </p:sp>
      <p:sp>
        <p:nvSpPr>
          <p:cNvPr id="4" name="">
            <a:extLst xmlns:a="http://schemas.openxmlformats.org/drawingml/2006/main">
              <a:ext uri="{FF2B5EF4-FFF2-40B4-BE49-F238E27FC236}">
                <a16:creationId xmlns:a16="http://schemas.microsoft.com/office/drawing/2014/main" id="{D902565E-344F-46FE-81DB-3544683E5F0E}"/>
              </a:ext>
            </a:extLst>
          </p:cNvPr>
          <p:cNvSpPr>
            <a:spLocks xmlns:a="http://schemas.openxmlformats.org/drawingml/2006/main" noGrp="1"/>
          </p:cNvSpPr>
          <p:nvPr/>
        </p:nvSpPr>
        <p:spPr>
          <a:xfrm xmlns:a="http://schemas.openxmlformats.org/drawingml/2006/main">
            <a:off x="1028700" y="3886200"/>
            <a:ext cx="10134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550" b="1">
                <a:solidFill>
                  <a:srgbClr val="DDEBCB"/>
                </a:solidFill>
                <a:latin typeface="Aptos"/>
                <a:ea typeface="Aptos"/>
                <a:cs typeface="Aptos"/>
              </a:defRPr>
            </a:pPr>
            <a:r>
              <a:rPr sz="2550" b="1">
                <a:solidFill>
                  <a:srgbClr val="DDEBCB"/>
                </a:solidFill>
                <a:latin typeface="Aptos"/>
                <a:ea typeface="Aptos"/>
                <a:cs typeface="Aptos"/>
              </a:rPr>
              <a:t>Accountable decisions</a:t>
            </a:r>
          </a:p>
        </p:txBody>
      </p:sp>
      <p:sp>
        <p:nvSpPr>
          <p:cNvPr id="5" name="">
            <a:extLst xmlns:a="http://schemas.openxmlformats.org/drawingml/2006/main">
              <a:ext uri="{FF2B5EF4-FFF2-40B4-BE49-F238E27FC236}">
                <a16:creationId xmlns:a16="http://schemas.microsoft.com/office/drawing/2014/main" id="{D707EA0F-5A6F-4FC5-8303-8070327E631C}"/>
              </a:ext>
            </a:extLst>
          </p:cNvPr>
          <p:cNvSpPr>
            <a:spLocks xmlns:a="http://schemas.openxmlformats.org/drawingml/2006/main" noGrp="1"/>
          </p:cNvSpPr>
          <p:nvPr/>
        </p:nvSpPr>
        <p:spPr>
          <a:xfrm xmlns:a="http://schemas.openxmlformats.org/drawingml/2006/main">
            <a:off x="4972050" y="4876800"/>
            <a:ext cx="2247900" cy="57150"/>
          </a:xfrm>
          <a:prstGeom xmlns:a="http://schemas.openxmlformats.org/drawingml/2006/main" prst="rect">
            <a:avLst/>
          </a:prstGeom>
          <a:solidFill xmlns:a="http://schemas.openxmlformats.org/drawingml/2006/main">
            <a:srgbClr val="9BB35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CD7D4E7-7D5B-4A02-BD1B-0ADF9C25AFA2}"/>
              </a:ext>
            </a:extLst>
          </p:cNvPr>
          <p:cNvSpPr>
            <a:spLocks xmlns:a="http://schemas.openxmlformats.org/drawingml/2006/main" noGrp="1"/>
          </p:cNvSpPr>
          <p:nvPr/>
        </p:nvSpPr>
        <p:spPr>
          <a:xfrm xmlns:a="http://schemas.openxmlformats.org/drawingml/2006/main">
            <a:off x="1790700" y="5219700"/>
            <a:ext cx="8610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0">
                <a:solidFill>
                  <a:srgbClr val="FFFFFF"/>
                </a:solidFill>
                <a:latin typeface="Aptos"/>
                <a:ea typeface="Aptos"/>
                <a:cs typeface="Aptos"/>
              </a:defRPr>
            </a:pPr>
            <a:r>
              <a:rPr sz="1875" b="0">
                <a:solidFill>
                  <a:srgbClr val="FFFFFF"/>
                </a:solidFill>
                <a:latin typeface="Aptos"/>
                <a:ea typeface="Aptos"/>
                <a:cs typeface="Aptos"/>
              </a:rPr>
              <a:t>AI supports the instructor. The instructor remains responsible.</a:t>
            </a:r>
          </a:p>
        </p:txBody>
      </p:sp>
      <p:sp>
        <p:nvSpPr>
          <p:cNvPr id="7" name="">
            <a:extLst xmlns:a="http://schemas.openxmlformats.org/drawingml/2006/main">
              <a:ext uri="{FF2B5EF4-FFF2-40B4-BE49-F238E27FC236}">
                <a16:creationId xmlns:a16="http://schemas.microsoft.com/office/drawing/2014/main" id="{DEF290A4-9047-429F-8392-291E087AA57C}"/>
              </a:ext>
            </a:extLst>
          </p:cNvPr>
          <p:cNvSpPr>
            <a:spLocks xmlns:a="http://schemas.openxmlformats.org/drawingml/2006/main" noGrp="1"/>
          </p:cNvSpPr>
          <p:nvPr/>
        </p:nvSpPr>
        <p:spPr>
          <a:xfrm xmlns:a="http://schemas.openxmlformats.org/drawingml/2006/main">
            <a:off x="1028700" y="6305550"/>
            <a:ext cx="10134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ctr">
              <a:defRPr sz="975" b="1">
                <a:solidFill>
                  <a:srgbClr val="DDE8DD"/>
                </a:solidFill>
                <a:latin typeface="Aptos"/>
                <a:ea typeface="Aptos"/>
                <a:cs typeface="Aptos"/>
              </a:defRPr>
            </a:pPr>
            <a:r>
              <a:rPr sz="975" b="1">
                <a:solidFill>
                  <a:srgbClr val="DDE8DD"/>
                </a:solidFill>
                <a:latin typeface="Aptos"/>
                <a:ea typeface="Aptos"/>
                <a:cs typeface="Aptos"/>
              </a:rPr>
              <a:t>Chisimba 26</a:t>
            </a:r>
          </a:p>
        </p:txBody>
      </p:sp>
    </p:spTree>
    <p:extLst>
      <p:ext uri="{BB962C8B-B14F-4D97-AF65-F5344CB8AC3E}">
        <p14:creationId xmlns:p14="http://schemas.microsoft.com/office/powerpoint/2010/main" val="7160731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2026-09-06T13:52:34.3290000Z</dcterms:created>
  <dcterms:modified xsi:type="dcterms:W3CDTF">2026-09-06T13:52:34.3290000Z</dcterms:modified>
</coreProperties>
</file>